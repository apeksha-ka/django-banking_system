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319" r:id="rId3"/>
    <p:sldId id="332" r:id="rId4"/>
    <p:sldId id="333" r:id="rId5"/>
    <p:sldId id="334" r:id="rId6"/>
    <p:sldId id="336" r:id="rId7"/>
    <p:sldId id="337" r:id="rId8"/>
    <p:sldId id="400" r:id="rId9"/>
    <p:sldId id="401" r:id="rId10"/>
    <p:sldId id="402" r:id="rId11"/>
    <p:sldId id="403" r:id="rId12"/>
    <p:sldId id="404" r:id="rId13"/>
    <p:sldId id="405" r:id="rId14"/>
    <p:sldId id="406" r:id="rId15"/>
    <p:sldId id="407" r:id="rId16"/>
    <p:sldId id="408" r:id="rId17"/>
    <p:sldId id="409" r:id="rId18"/>
    <p:sldId id="410" r:id="rId19"/>
    <p:sldId id="411" r:id="rId20"/>
    <p:sldId id="412" r:id="rId21"/>
    <p:sldId id="413" r:id="rId22"/>
    <p:sldId id="338" r:id="rId23"/>
    <p:sldId id="331" r:id="rId24"/>
  </p:sldIdLst>
  <p:sldSz cx="12192000" cy="6858000"/>
  <p:notesSz cx="6858000" cy="9144000"/>
  <p:embeddedFontLst>
    <p:embeddedFont>
      <p:font typeface="Merriweather" pitchFamily="2" charset="77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521415D9-36F7-43E2-AB2F-B90AF26B5E84}">
      <p14:sectionLst xmlns:p14="http://schemas.microsoft.com/office/powerpoint/2010/main">
        <p14:section name="Default Section" id="{EED0FF9A-572D-4EB3-9047-66BC36F9BC9F}">
          <p14:sldIdLst>
            <p14:sldId id="256"/>
            <p14:sldId id="319"/>
            <p14:sldId id="332"/>
            <p14:sldId id="333"/>
            <p14:sldId id="334"/>
            <p14:sldId id="336"/>
            <p14:sldId id="337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  <p14:sldId id="410"/>
            <p14:sldId id="411"/>
            <p14:sldId id="412"/>
            <p14:sldId id="413"/>
            <p14:sldId id="338"/>
            <p14:sldId id="331"/>
          </p14:sldIdLst>
        </p14:section>
        <p14:section name="Untitled Section" id="{81D10791-C342-4FD5-9451-6DC6627090C7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DF847D-A422-4963-8273-8BE9E3934A6F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80" autoAdjust="0"/>
    <p:restoredTop sz="92041" autoAdjust="0"/>
  </p:normalViewPr>
  <p:slideViewPr>
    <p:cSldViewPr snapToGrid="0">
      <p:cViewPr varScale="1">
        <p:scale>
          <a:sx n="117" d="100"/>
          <a:sy n="117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3F42536A-988E-077E-DECF-0D181810D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B1333BFA-7343-9DFF-5586-C318C952B6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C23DF7A3-CD68-28F1-EC0D-D65559B101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617041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F140679C-5A2E-6AB7-991B-35C12F6B9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DC859FC1-7709-81CF-591A-28D18F1C7F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B3F68A3D-826D-226D-352E-7BF61402D9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7572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B232417C-96AB-B822-DBD3-33FFE66D9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B8F0DB19-30C8-0035-D900-6DD85C2E1D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EC955458-2992-8816-54FB-5931A79926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7959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D9B336E9-2ACB-667F-91E6-0D74D01B3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BC82A846-D2E8-4609-1DF1-A2E1B6BDA7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9AF7E541-4E69-F4CB-1D80-A3F8CF4C9E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89731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6EB0D288-E689-9EB9-F583-D939275F2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A0FB0EB3-91BE-C333-BC2F-75BD427E58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BF9503A4-294E-365E-D1D7-872985F385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19289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57A4A2B0-F153-782D-EE16-4849D13E6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88077D18-83AC-4CAF-EAC2-0A1C25BCDB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AE73A308-52C1-CCE6-F114-D0EFBAC734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64039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3E3FE075-F3AB-5BC3-D31D-41B43D3BF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680168D7-CA5C-970B-39E9-163F59B5F6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EBDE9E08-6DE6-D99E-360E-DDCCDD4F9B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3514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Date:</a:t>
            </a:r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Title of the Project in short</a:t>
            </a:r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Date:</a:t>
            </a:r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Title of the Project in short</a:t>
            </a:r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Date:</a:t>
            </a:r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Title of the Project in short</a:t>
            </a:r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Date:</a:t>
            </a:r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Title of the Project in short</a:t>
            </a:r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Date:</a:t>
            </a:r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Title of the Project in short</a:t>
            </a:r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Date:</a:t>
            </a:r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Title of the Project in short</a:t>
            </a:r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Date:</a:t>
            </a:r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Title of the Project in short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Date:</a:t>
            </a:r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Title of the Project in short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Date:</a:t>
            </a:r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Title of the Project in short</a:t>
            </a:r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r>
              <a:rPr lang="en-US"/>
              <a:t>Date:</a:t>
            </a:r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r>
              <a:rPr lang="en-US"/>
              <a:t>Title of the Project in short</a:t>
            </a:r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nternship.edutainer.in/student/my-course/Full-Stack-Web-Development-Bootcamp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www.internship.edutainer.in/student/my-learning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internship.edutainer.in/student/student-dashboard" TargetMode="External"/><Relationship Id="rId5" Type="http://schemas.openxmlformats.org/officeDocument/2006/relationships/hyperlink" Target="https://www.internship.edutainer.in/login" TargetMode="External"/><Relationship Id="rId10" Type="http://schemas.openxmlformats.org/officeDocument/2006/relationships/hyperlink" Target="https://www.internship.edutainer.in/student/my-course/React-JS" TargetMode="External"/><Relationship Id="rId4" Type="http://schemas.openxmlformats.org/officeDocument/2006/relationships/hyperlink" Target="https://www.internship.edutainer.in/" TargetMode="External"/><Relationship Id="rId9" Type="http://schemas.openxmlformats.org/officeDocument/2006/relationships/hyperlink" Target="https://www.internship.edutainer.in/student/my-course/Python-Essentials-and-Libraries-for-Data-Science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71668" y="117890"/>
            <a:ext cx="12020954" cy="1624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3939"/>
              </a:buClr>
              <a:buSzPts val="1800"/>
              <a:buFont typeface="Calibri" panose="020F0502020204030204"/>
              <a:buNone/>
            </a:pPr>
            <a:r>
              <a:rPr lang="en-US" sz="1800" b="1" i="0" u="none" strike="noStrike" cap="none" dirty="0">
                <a:solidFill>
                  <a:srgbClr val="73393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National Education Society®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3939"/>
              </a:buClr>
              <a:buSzPts val="3200"/>
              <a:buFont typeface="Times New Roman" panose="02020603050405020304"/>
              <a:buNone/>
            </a:pPr>
            <a:r>
              <a:rPr lang="en-US" sz="3200" b="1" i="0" u="none" strike="noStrike" cap="none" dirty="0">
                <a:solidFill>
                  <a:srgbClr val="73393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JNN College of Engineering, Shivamogga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3939"/>
              </a:buClr>
              <a:buSzPts val="2800"/>
              <a:buFont typeface="Times New Roman" panose="02020603050405020304"/>
              <a:buNone/>
            </a:pPr>
            <a:r>
              <a:rPr lang="en-US" sz="2800" b="1" i="0" u="none" strike="noStrike" cap="none" dirty="0">
                <a:solidFill>
                  <a:srgbClr val="73393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Information Science and Engineering</a:t>
            </a:r>
          </a:p>
          <a:p>
            <a:pPr algn="ctr"/>
            <a:r>
              <a:rPr lang="en-IN" sz="1200" i="1" spc="-1" dirty="0" err="1">
                <a:latin typeface="Calibri"/>
                <a:ea typeface="Calibri"/>
              </a:rPr>
              <a:t>Sawalanga</a:t>
            </a:r>
            <a:r>
              <a:rPr lang="en-IN" sz="1200" i="1" spc="-1" dirty="0">
                <a:latin typeface="Calibri"/>
                <a:ea typeface="Calibri"/>
              </a:rPr>
              <a:t> Road, </a:t>
            </a:r>
            <a:r>
              <a:rPr lang="en-IN" sz="1200" i="1" spc="-1" dirty="0" err="1">
                <a:latin typeface="Calibri"/>
                <a:ea typeface="Calibri"/>
              </a:rPr>
              <a:t>Navule</a:t>
            </a:r>
            <a:r>
              <a:rPr lang="en-IN" sz="1200" i="1" spc="-1" dirty="0">
                <a:latin typeface="Calibri"/>
                <a:ea typeface="Calibri"/>
              </a:rPr>
              <a:t>, Shivamogga -277204</a:t>
            </a:r>
            <a:endParaRPr lang="en-IN" sz="1200" spc="-1" dirty="0"/>
          </a:p>
          <a:p>
            <a:pPr algn="ctr"/>
            <a:r>
              <a:rPr lang="en-IN" sz="1600" i="1" spc="-1" dirty="0">
                <a:latin typeface="Calibri"/>
                <a:ea typeface="Calibri"/>
              </a:rPr>
              <a:t>(Accredited by NBA, NAAC ‘A' &amp; Certified by UGC 2f &amp; 12B)</a:t>
            </a:r>
            <a:endParaRPr lang="en-IN" sz="1600" spc="-1" dirty="0"/>
          </a:p>
        </p:txBody>
      </p:sp>
      <p:cxnSp>
        <p:nvCxnSpPr>
          <p:cNvPr id="89" name="Google Shape;89;p13"/>
          <p:cNvCxnSpPr/>
          <p:nvPr/>
        </p:nvCxnSpPr>
        <p:spPr>
          <a:xfrm rot="10800000" flipH="1">
            <a:off x="39856" y="66364"/>
            <a:ext cx="12084578" cy="14064"/>
          </a:xfrm>
          <a:prstGeom prst="straightConnector1">
            <a:avLst/>
          </a:prstGeom>
          <a:noFill/>
          <a:ln w="381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" name="Google Shape;90;p13"/>
          <p:cNvCxnSpPr/>
          <p:nvPr/>
        </p:nvCxnSpPr>
        <p:spPr>
          <a:xfrm rot="10800000" flipH="1">
            <a:off x="62519" y="1780149"/>
            <a:ext cx="12007702" cy="22574"/>
          </a:xfrm>
          <a:prstGeom prst="straightConnector1">
            <a:avLst/>
          </a:prstGeom>
          <a:noFill/>
          <a:ln w="1905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" name="Google Shape;91;p13"/>
          <p:cNvCxnSpPr/>
          <p:nvPr/>
        </p:nvCxnSpPr>
        <p:spPr>
          <a:xfrm rot="10800000" flipH="1">
            <a:off x="80818" y="6375827"/>
            <a:ext cx="12020954" cy="22573"/>
          </a:xfrm>
          <a:prstGeom prst="straightConnector1">
            <a:avLst/>
          </a:prstGeom>
          <a:noFill/>
          <a:ln w="381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" name="Google Shape;92;p13"/>
          <p:cNvSpPr txBox="1"/>
          <p:nvPr/>
        </p:nvSpPr>
        <p:spPr>
          <a:xfrm>
            <a:off x="103480" y="4223329"/>
            <a:ext cx="11449225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13"/>
          <p:cNvSpPr txBox="1">
            <a:spLocks noGrp="1"/>
          </p:cNvSpPr>
          <p:nvPr>
            <p:ph type="dt" idx="10"/>
          </p:nvPr>
        </p:nvSpPr>
        <p:spPr>
          <a:xfrm>
            <a:off x="8382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70C0"/>
                </a:solidFill>
              </a:rPr>
              <a:t>Date:15/04/2026</a:t>
            </a:r>
            <a:endParaRPr sz="1600" b="1" dirty="0">
              <a:solidFill>
                <a:srgbClr val="0070C0"/>
              </a:solidFill>
            </a:endParaRPr>
          </a:p>
        </p:txBody>
      </p:sp>
      <p:sp>
        <p:nvSpPr>
          <p:cNvPr id="94" name="Google Shape;94;p13"/>
          <p:cNvSpPr txBox="1">
            <a:spLocks noGrp="1"/>
          </p:cNvSpPr>
          <p:nvPr>
            <p:ph type="ftr" idx="11"/>
          </p:nvPr>
        </p:nvSpPr>
        <p:spPr>
          <a:xfrm>
            <a:off x="2664542" y="6435863"/>
            <a:ext cx="6810762" cy="402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 dirty="0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Web Development Intern(entry level)</a:t>
            </a:r>
            <a:endParaRPr lang="en-US" sz="14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5" name="Google Shape;95;p13"/>
          <p:cNvSpPr txBox="1">
            <a:spLocks noGrp="1"/>
          </p:cNvSpPr>
          <p:nvPr>
            <p:ph type="sldNum" idx="12"/>
          </p:nvPr>
        </p:nvSpPr>
        <p:spPr>
          <a:xfrm>
            <a:off x="86106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sz="16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1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707894" y="326488"/>
            <a:ext cx="1166053" cy="1170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3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59802" y="263299"/>
            <a:ext cx="1166053" cy="12879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Shape 1">
            <a:extLst>
              <a:ext uri="{FF2B5EF4-FFF2-40B4-BE49-F238E27FC236}">
                <a16:creationId xmlns:a16="http://schemas.microsoft.com/office/drawing/2014/main" id="{621E464C-CF65-4720-99DE-54CA437B36C6}"/>
              </a:ext>
            </a:extLst>
          </p:cNvPr>
          <p:cNvSpPr txBox="1"/>
          <p:nvPr/>
        </p:nvSpPr>
        <p:spPr>
          <a:xfrm>
            <a:off x="505080" y="1856622"/>
            <a:ext cx="10631160" cy="2507768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lang="en-IN" sz="2000" b="1" strike="noStrike" spc="-1" dirty="0">
                <a:solidFill>
                  <a:schemeClr val="tx1"/>
                </a:solidFill>
                <a:latin typeface="Times New Roman"/>
              </a:rPr>
              <a:t>Internship Mid Review Seminar </a:t>
            </a:r>
            <a:r>
              <a:rPr lang="en-IN" sz="2000" b="1" spc="-1" dirty="0">
                <a:solidFill>
                  <a:schemeClr val="tx1"/>
                </a:solidFill>
                <a:latin typeface="Times New Roman"/>
              </a:rPr>
              <a:t>o</a:t>
            </a:r>
            <a:r>
              <a:rPr lang="en-IN" sz="2000" b="1" strike="noStrike" spc="-1" dirty="0">
                <a:solidFill>
                  <a:schemeClr val="tx1"/>
                </a:solidFill>
                <a:latin typeface="Times New Roman"/>
              </a:rPr>
              <a:t>n</a:t>
            </a:r>
            <a:endParaRPr lang="en-IN" sz="2000" b="0" strike="noStrike" spc="-1" dirty="0">
              <a:solidFill>
                <a:schemeClr val="tx1"/>
              </a:solidFill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lang="en-IN" sz="2400" b="1" strike="noStrike" spc="-1" dirty="0">
                <a:solidFill>
                  <a:srgbClr val="C00000"/>
                </a:solidFill>
                <a:latin typeface="Times New Roman"/>
              </a:rPr>
              <a:t>“Web Development Intern(entry level)”</a:t>
            </a:r>
            <a:endParaRPr lang="en-IN" sz="2400" b="0" strike="noStrike" spc="-1" dirty="0">
              <a:solidFill>
                <a:srgbClr val="C00000"/>
              </a:solidFill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lang="en-IN" sz="2000" b="1" strike="noStrike" spc="-1" dirty="0">
                <a:solidFill>
                  <a:srgbClr val="000000"/>
                </a:solidFill>
                <a:latin typeface="Times New Roman"/>
              </a:rPr>
              <a:t>Carried out at</a:t>
            </a:r>
            <a:endParaRPr lang="en-IN" sz="20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lang="en-IN" sz="2200" b="1" spc="-1" dirty="0">
                <a:solidFill>
                  <a:srgbClr val="C00000"/>
                </a:solidFill>
                <a:latin typeface="Times New Roman"/>
              </a:rPr>
              <a:t>“Edutainer(Online Internship Platform)”</a:t>
            </a:r>
            <a:endParaRPr lang="en-IN" sz="2200" b="0" strike="noStrike" spc="-1" dirty="0">
              <a:solidFill>
                <a:srgbClr val="C00000"/>
              </a:solidFill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lang="en-IN" sz="2000" b="1" strike="noStrike" spc="-1" dirty="0">
                <a:solidFill>
                  <a:srgbClr val="000000"/>
                </a:solidFill>
                <a:latin typeface="Times New Roman"/>
              </a:rPr>
              <a:t>during</a:t>
            </a:r>
            <a:r>
              <a:rPr lang="en-IN" sz="2000" b="1" strike="noStrike" spc="-1" dirty="0">
                <a:solidFill>
                  <a:srgbClr val="FF0000"/>
                </a:solidFill>
                <a:latin typeface="Times New Roman"/>
              </a:rPr>
              <a:t> </a:t>
            </a:r>
            <a:endParaRPr lang="en-IN" sz="20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lang="en-IN" sz="2000" b="1" spc="-1" dirty="0">
                <a:solidFill>
                  <a:srgbClr val="002060"/>
                </a:solidFill>
                <a:latin typeface="Times New Roman"/>
              </a:rPr>
              <a:t>15</a:t>
            </a:r>
            <a:r>
              <a:rPr lang="en-IN" sz="2000" b="1" strike="noStrike" spc="-1" dirty="0">
                <a:solidFill>
                  <a:srgbClr val="002060"/>
                </a:solidFill>
                <a:latin typeface="Times New Roman"/>
              </a:rPr>
              <a:t>th April 2026 – 16 April 2026</a:t>
            </a:r>
            <a:endParaRPr lang="en-IN" sz="2000" b="0" strike="noStrike" spc="-1" dirty="0">
              <a:latin typeface="Arial"/>
            </a:endParaRPr>
          </a:p>
        </p:txBody>
      </p:sp>
      <p:sp>
        <p:nvSpPr>
          <p:cNvPr id="4" name="CustomShape 4">
            <a:extLst>
              <a:ext uri="{FF2B5EF4-FFF2-40B4-BE49-F238E27FC236}">
                <a16:creationId xmlns:a16="http://schemas.microsoft.com/office/drawing/2014/main" id="{D9F5B385-1542-4AEA-2119-0C3EF3A45CD6}"/>
              </a:ext>
            </a:extLst>
          </p:cNvPr>
          <p:cNvSpPr/>
          <p:nvPr/>
        </p:nvSpPr>
        <p:spPr>
          <a:xfrm>
            <a:off x="346680" y="4683497"/>
            <a:ext cx="3677760" cy="1417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en-IN" sz="2400" b="1" strike="noStrike" spc="-1" dirty="0">
                <a:solidFill>
                  <a:srgbClr val="000000"/>
                </a:solidFill>
                <a:latin typeface="Times New Roman"/>
              </a:rPr>
              <a:t>Presented by:</a:t>
            </a:r>
            <a:endParaRPr lang="en-IN" sz="2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en-IN" sz="1800" b="1" strike="noStrike" spc="-1" dirty="0">
                <a:solidFill>
                  <a:srgbClr val="00B0F0"/>
                </a:solidFill>
                <a:latin typeface="Times New Roman"/>
              </a:rPr>
              <a:t>APEKSHA KA</a:t>
            </a: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en-IN" sz="1800" b="1" spc="-1" dirty="0">
                <a:solidFill>
                  <a:srgbClr val="00B0F0"/>
                </a:solidFill>
                <a:latin typeface="Times New Roman"/>
              </a:rPr>
              <a:t>4JN22IS032</a:t>
            </a:r>
            <a:endParaRPr lang="en-IN" sz="1800" b="0" strike="noStrike" spc="-1" dirty="0">
              <a:solidFill>
                <a:srgbClr val="00B0F0"/>
              </a:solidFill>
              <a:latin typeface="Arial"/>
            </a:endParaRPr>
          </a:p>
        </p:txBody>
      </p:sp>
      <p:sp>
        <p:nvSpPr>
          <p:cNvPr id="5" name="CustomShape 6">
            <a:extLst>
              <a:ext uri="{FF2B5EF4-FFF2-40B4-BE49-F238E27FC236}">
                <a16:creationId xmlns:a16="http://schemas.microsoft.com/office/drawing/2014/main" id="{9B200F4A-0C79-39D1-E536-FBF66538771C}"/>
              </a:ext>
            </a:extLst>
          </p:cNvPr>
          <p:cNvSpPr/>
          <p:nvPr/>
        </p:nvSpPr>
        <p:spPr>
          <a:xfrm>
            <a:off x="4226400" y="4672619"/>
            <a:ext cx="3998520" cy="156165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en-IN" sz="2400" b="1" strike="noStrike" spc="-1" dirty="0">
                <a:solidFill>
                  <a:srgbClr val="000000"/>
                </a:solidFill>
                <a:latin typeface="Times New Roman"/>
              </a:rPr>
              <a:t>External Guide:</a:t>
            </a:r>
            <a:endParaRPr lang="en-IN" sz="2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en-IN" sz="1800" b="1" strike="noStrike" spc="-1" dirty="0">
                <a:solidFill>
                  <a:srgbClr val="00B0F0"/>
                </a:solidFill>
                <a:latin typeface="Times New Roman"/>
              </a:rPr>
              <a:t>Mr. Name of the guide</a:t>
            </a:r>
            <a:endParaRPr lang="en-IN" sz="1800" b="0" strike="noStrike" spc="-1" dirty="0">
              <a:solidFill>
                <a:srgbClr val="00B0F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en-IN" sz="1800" b="1" strike="noStrike" spc="-1" dirty="0">
                <a:solidFill>
                  <a:srgbClr val="00B0F0"/>
                </a:solidFill>
                <a:latin typeface="Times New Roman"/>
              </a:rPr>
              <a:t>Designation</a:t>
            </a:r>
            <a:endParaRPr lang="en-IN" sz="1800" b="0" strike="noStrike" spc="-1" dirty="0">
              <a:solidFill>
                <a:srgbClr val="00B0F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en-IN" sz="1800" b="1" strike="noStrike" spc="-1" dirty="0">
                <a:solidFill>
                  <a:srgbClr val="00B0F0"/>
                </a:solidFill>
                <a:latin typeface="Times New Roman"/>
              </a:rPr>
              <a:t>Organization</a:t>
            </a:r>
            <a:endParaRPr lang="en-IN" sz="1800" b="0" strike="noStrike" spc="-1" dirty="0">
              <a:solidFill>
                <a:srgbClr val="00B0F0"/>
              </a:solidFill>
              <a:latin typeface="Arial"/>
            </a:endParaRPr>
          </a:p>
        </p:txBody>
      </p:sp>
      <p:sp>
        <p:nvSpPr>
          <p:cNvPr id="6" name="CustomShape 5">
            <a:extLst>
              <a:ext uri="{FF2B5EF4-FFF2-40B4-BE49-F238E27FC236}">
                <a16:creationId xmlns:a16="http://schemas.microsoft.com/office/drawing/2014/main" id="{383EE6B1-FA9D-541E-D3A0-F32BDCAF25A9}"/>
              </a:ext>
            </a:extLst>
          </p:cNvPr>
          <p:cNvSpPr/>
          <p:nvPr/>
        </p:nvSpPr>
        <p:spPr>
          <a:xfrm>
            <a:off x="8426880" y="4687138"/>
            <a:ext cx="4023360" cy="1417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en-IN" sz="2400" b="1" strike="noStrike" spc="-1" dirty="0">
                <a:solidFill>
                  <a:srgbClr val="000000"/>
                </a:solidFill>
                <a:latin typeface="Times New Roman"/>
              </a:rPr>
              <a:t>Internal Guide:</a:t>
            </a:r>
            <a:endParaRPr lang="en-IN" sz="2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en-IN" sz="1800" b="1" spc="-1" dirty="0">
                <a:solidFill>
                  <a:srgbClr val="00B0F0"/>
                </a:solidFill>
                <a:latin typeface="Times New Roman"/>
              </a:rPr>
              <a:t>Mr.</a:t>
            </a:r>
            <a:r>
              <a:rPr lang="en-IN" sz="1800" b="1" strike="noStrike" spc="-1" dirty="0">
                <a:solidFill>
                  <a:srgbClr val="00B0F0"/>
                </a:solidFill>
                <a:latin typeface="Times New Roman"/>
              </a:rPr>
              <a:t> Girish Mantha </a:t>
            </a:r>
            <a:r>
              <a:rPr lang="en-IN" b="1" strike="noStrike" spc="-1" dirty="0">
                <a:solidFill>
                  <a:srgbClr val="00B0F0"/>
                </a:solidFill>
                <a:latin typeface="Times New Roman"/>
              </a:rPr>
              <a:t>B.E, </a:t>
            </a:r>
            <a:r>
              <a:rPr lang="en-IN" b="1" strike="noStrike" spc="-1" dirty="0" err="1">
                <a:solidFill>
                  <a:srgbClr val="00B0F0"/>
                </a:solidFill>
                <a:latin typeface="Times New Roman"/>
              </a:rPr>
              <a:t>M.Tech</a:t>
            </a:r>
            <a:r>
              <a:rPr lang="en-IN" b="1" strike="noStrike" spc="-1" dirty="0">
                <a:solidFill>
                  <a:srgbClr val="00B0F0"/>
                </a:solidFill>
                <a:latin typeface="Times New Roman"/>
              </a:rPr>
              <a:t>.</a:t>
            </a:r>
            <a:endParaRPr lang="en-IN" b="0" strike="noStrike" spc="-1" dirty="0">
              <a:solidFill>
                <a:srgbClr val="00B0F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en-IN" sz="1800" b="1" strike="noStrike" spc="-1" dirty="0">
                <a:solidFill>
                  <a:srgbClr val="00B0F0"/>
                </a:solidFill>
                <a:latin typeface="Times New Roman"/>
              </a:rPr>
              <a:t>Assistant Professor, Dept. of IS&amp;E.</a:t>
            </a:r>
            <a:endParaRPr lang="en-IN" sz="1800" b="0" strike="noStrike" spc="-1" dirty="0">
              <a:solidFill>
                <a:srgbClr val="00B0F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 txBox="1"/>
          <p:nvPr/>
        </p:nvSpPr>
        <p:spPr>
          <a:xfrm>
            <a:off x="67566" y="-13148"/>
            <a:ext cx="1202095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3939"/>
              </a:buClr>
              <a:buSzPts val="4000"/>
              <a:buFont typeface="Times New Roman" panose="02020603050405020304"/>
              <a:buNone/>
            </a:pPr>
            <a:r>
              <a:rPr lang="en-US" sz="4000" b="1" i="0" u="none" strike="noStrike" cap="none" dirty="0">
                <a:solidFill>
                  <a:srgbClr val="73393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Contents</a:t>
            </a:r>
            <a:endParaRPr dirty="0"/>
          </a:p>
        </p:txBody>
      </p:sp>
      <p:cxnSp>
        <p:nvCxnSpPr>
          <p:cNvPr id="132" name="Google Shape;132;p16"/>
          <p:cNvCxnSpPr/>
          <p:nvPr/>
        </p:nvCxnSpPr>
        <p:spPr>
          <a:xfrm rot="10800000" flipH="1">
            <a:off x="39856" y="66364"/>
            <a:ext cx="12084578" cy="14064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" name="Google Shape;133;p16"/>
          <p:cNvCxnSpPr/>
          <p:nvPr/>
        </p:nvCxnSpPr>
        <p:spPr>
          <a:xfrm rot="10800000" flipH="1">
            <a:off x="39856" y="904564"/>
            <a:ext cx="12048664" cy="14064"/>
          </a:xfrm>
          <a:prstGeom prst="straightConnector1">
            <a:avLst/>
          </a:prstGeom>
          <a:noFill/>
          <a:ln w="1905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" name="Google Shape;134;p16"/>
          <p:cNvCxnSpPr/>
          <p:nvPr/>
        </p:nvCxnSpPr>
        <p:spPr>
          <a:xfrm rot="10800000" flipH="1">
            <a:off x="80818" y="6375827"/>
            <a:ext cx="12020954" cy="22573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5" name="Google Shape;135;p16" descr="Teacher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3480" y="80428"/>
            <a:ext cx="827584" cy="82758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>
            <a:spLocks noGrp="1"/>
          </p:cNvSpPr>
          <p:nvPr>
            <p:ph type="dt" idx="10"/>
          </p:nvPr>
        </p:nvSpPr>
        <p:spPr>
          <a:xfrm>
            <a:off x="8382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70C0"/>
                </a:solidFill>
              </a:rPr>
              <a:t>Date: 15/04/2026</a:t>
            </a:r>
            <a:endParaRPr sz="1600" b="1" dirty="0">
              <a:solidFill>
                <a:srgbClr val="0070C0"/>
              </a:solidFill>
            </a:endParaRPr>
          </a:p>
        </p:txBody>
      </p:sp>
      <p:sp>
        <p:nvSpPr>
          <p:cNvPr id="137" name="Google Shape;137;p16"/>
          <p:cNvSpPr txBox="1">
            <a:spLocks noGrp="1"/>
          </p:cNvSpPr>
          <p:nvPr>
            <p:ph type="sldNum" idx="12"/>
          </p:nvPr>
        </p:nvSpPr>
        <p:spPr>
          <a:xfrm>
            <a:off x="86106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sz="16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80818" y="956090"/>
            <a:ext cx="1198504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endParaRPr sz="2400" b="1" i="0" u="none" strike="noStrike" cap="none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103480" y="945473"/>
            <a:ext cx="11948820" cy="5392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6110" indent="-285750">
              <a:lnSpc>
                <a:spcPct val="20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6110" indent="-285750">
              <a:lnSpc>
                <a:spcPct val="20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Profile</a:t>
            </a:r>
          </a:p>
          <a:p>
            <a:pPr marL="286110" indent="-285750">
              <a:lnSpc>
                <a:spcPct val="20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the Company</a:t>
            </a:r>
          </a:p>
          <a:p>
            <a:pPr marL="286110" indent="-285750">
              <a:lnSpc>
                <a:spcPct val="20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Tools Used</a:t>
            </a:r>
          </a:p>
          <a:p>
            <a:pPr marL="286110" indent="-285750">
              <a:lnSpc>
                <a:spcPct val="20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Performed(details of tasks done)</a:t>
            </a:r>
          </a:p>
          <a:p>
            <a:pPr marL="286110" indent="-285750">
              <a:lnSpc>
                <a:spcPct val="20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Reflection notes(details of project with output)</a:t>
            </a:r>
          </a:p>
        </p:txBody>
      </p:sp>
      <p:sp>
        <p:nvSpPr>
          <p:cNvPr id="140" name="Google Shape;140;p16"/>
          <p:cNvSpPr txBox="1">
            <a:spLocks noGrp="1"/>
          </p:cNvSpPr>
          <p:nvPr>
            <p:ph type="ftr" idx="11"/>
          </p:nvPr>
        </p:nvSpPr>
        <p:spPr>
          <a:xfrm>
            <a:off x="2541069" y="6435862"/>
            <a:ext cx="8368882" cy="36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r>
              <a:rPr lang="en-US" sz="1600" i="1" dirty="0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Output</a:t>
            </a:r>
            <a:endParaRPr lang="en-US" sz="14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8D4F14B1-344A-3003-5CCD-5A5705105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>
            <a:extLst>
              <a:ext uri="{FF2B5EF4-FFF2-40B4-BE49-F238E27FC236}">
                <a16:creationId xmlns:a16="http://schemas.microsoft.com/office/drawing/2014/main" id="{4BFD00BE-653B-C21B-7AAC-B60357736B0C}"/>
              </a:ext>
            </a:extLst>
          </p:cNvPr>
          <p:cNvSpPr txBox="1"/>
          <p:nvPr/>
        </p:nvSpPr>
        <p:spPr>
          <a:xfrm>
            <a:off x="67566" y="-13148"/>
            <a:ext cx="1202095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3939"/>
              </a:buClr>
              <a:buSzPts val="4000"/>
              <a:buFont typeface="Times New Roman" panose="02020603050405020304"/>
              <a:buNone/>
            </a:pPr>
            <a:r>
              <a:rPr lang="en-US" sz="4000" b="1" dirty="0">
                <a:solidFill>
                  <a:srgbClr val="733939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Introduction</a:t>
            </a:r>
            <a:endParaRPr dirty="0"/>
          </a:p>
        </p:txBody>
      </p:sp>
      <p:cxnSp>
        <p:nvCxnSpPr>
          <p:cNvPr id="132" name="Google Shape;132;p16">
            <a:extLst>
              <a:ext uri="{FF2B5EF4-FFF2-40B4-BE49-F238E27FC236}">
                <a16:creationId xmlns:a16="http://schemas.microsoft.com/office/drawing/2014/main" id="{D1E362F1-6D83-4E8F-412E-3C7998B601A2}"/>
              </a:ext>
            </a:extLst>
          </p:cNvPr>
          <p:cNvCxnSpPr/>
          <p:nvPr/>
        </p:nvCxnSpPr>
        <p:spPr>
          <a:xfrm rot="10800000" flipH="1">
            <a:off x="39856" y="66364"/>
            <a:ext cx="12084578" cy="14064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" name="Google Shape;133;p16">
            <a:extLst>
              <a:ext uri="{FF2B5EF4-FFF2-40B4-BE49-F238E27FC236}">
                <a16:creationId xmlns:a16="http://schemas.microsoft.com/office/drawing/2014/main" id="{4CFF741B-6A4F-2EE7-298F-658295023C39}"/>
              </a:ext>
            </a:extLst>
          </p:cNvPr>
          <p:cNvCxnSpPr/>
          <p:nvPr/>
        </p:nvCxnSpPr>
        <p:spPr>
          <a:xfrm rot="10800000" flipH="1">
            <a:off x="39856" y="904564"/>
            <a:ext cx="12048664" cy="14064"/>
          </a:xfrm>
          <a:prstGeom prst="straightConnector1">
            <a:avLst/>
          </a:prstGeom>
          <a:noFill/>
          <a:ln w="1905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" name="Google Shape;134;p16">
            <a:extLst>
              <a:ext uri="{FF2B5EF4-FFF2-40B4-BE49-F238E27FC236}">
                <a16:creationId xmlns:a16="http://schemas.microsoft.com/office/drawing/2014/main" id="{20A8FD76-25B1-74B0-3118-556DD0E7FAF8}"/>
              </a:ext>
            </a:extLst>
          </p:cNvPr>
          <p:cNvCxnSpPr/>
          <p:nvPr/>
        </p:nvCxnSpPr>
        <p:spPr>
          <a:xfrm rot="10800000" flipH="1">
            <a:off x="80818" y="6375827"/>
            <a:ext cx="12020954" cy="22573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5" name="Google Shape;135;p16" descr="Teacher">
            <a:extLst>
              <a:ext uri="{FF2B5EF4-FFF2-40B4-BE49-F238E27FC236}">
                <a16:creationId xmlns:a16="http://schemas.microsoft.com/office/drawing/2014/main" id="{D4361850-8682-E4D8-B330-2A39CEE5619F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3480" y="80428"/>
            <a:ext cx="827584" cy="82758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2D64D305-494D-41AF-9EDB-148327A7344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70C0"/>
                </a:solidFill>
              </a:rPr>
              <a:t>Date: 15/04/2026</a:t>
            </a:r>
            <a:endParaRPr sz="1600" b="1" dirty="0">
              <a:solidFill>
                <a:srgbClr val="0070C0"/>
              </a:solidFill>
            </a:endParaRPr>
          </a:p>
        </p:txBody>
      </p:sp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4D93FC96-EC3E-BA5D-EFE2-DEC79CEB3AC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sz="16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Google Shape;138;p16">
            <a:extLst>
              <a:ext uri="{FF2B5EF4-FFF2-40B4-BE49-F238E27FC236}">
                <a16:creationId xmlns:a16="http://schemas.microsoft.com/office/drawing/2014/main" id="{FBCEAD41-C77C-0A01-B1FA-D832D892E835}"/>
              </a:ext>
            </a:extLst>
          </p:cNvPr>
          <p:cNvSpPr txBox="1"/>
          <p:nvPr/>
        </p:nvSpPr>
        <p:spPr>
          <a:xfrm>
            <a:off x="80818" y="956090"/>
            <a:ext cx="1198504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endParaRPr sz="2400" b="1" i="0" u="none" strike="noStrike" cap="none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9" name="Google Shape;139;p16">
            <a:extLst>
              <a:ext uri="{FF2B5EF4-FFF2-40B4-BE49-F238E27FC236}">
                <a16:creationId xmlns:a16="http://schemas.microsoft.com/office/drawing/2014/main" id="{A9D16D6C-9C6B-2BF1-E23A-BAE7EB4BF32C}"/>
              </a:ext>
            </a:extLst>
          </p:cNvPr>
          <p:cNvSpPr txBox="1"/>
          <p:nvPr/>
        </p:nvSpPr>
        <p:spPr>
          <a:xfrm>
            <a:off x="103480" y="945473"/>
            <a:ext cx="11948820" cy="5392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internship focuses on learning Python programming through an online platform that provides structured video lessons and interactive quizzes. It is designed to build a strong foundation in programming concepts and enhance practical skills.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internship helps in understanding data structures such as lists and dictionaries, improving problem-solving abilities, and applying concepts to real-world scenarios. It also provides hands-on experience through continuous practice and assessments.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program emphasizes skill development, logical thinking, and industry-oriented learning, preparing students for future technical roles.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internship also enhances coding efficiency and debugging skills through regular practice.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builds confidence in implementing Python concepts for academic and real-time projects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40" name="Google Shape;140;p16">
            <a:extLst>
              <a:ext uri="{FF2B5EF4-FFF2-40B4-BE49-F238E27FC236}">
                <a16:creationId xmlns:a16="http://schemas.microsoft.com/office/drawing/2014/main" id="{44AE0FED-8A21-A99A-C848-6E0660C08BD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41069" y="6435862"/>
            <a:ext cx="8368882" cy="36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r>
              <a:rPr lang="en-US" sz="1600" i="1" dirty="0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Web Development Intern(entry level)</a:t>
            </a:r>
            <a:endParaRPr lang="en-US" sz="14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823876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78C6E316-8974-6C91-064F-5C14D00E2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>
            <a:extLst>
              <a:ext uri="{FF2B5EF4-FFF2-40B4-BE49-F238E27FC236}">
                <a16:creationId xmlns:a16="http://schemas.microsoft.com/office/drawing/2014/main" id="{477BAF7D-8018-4770-C86D-206356FA233F}"/>
              </a:ext>
            </a:extLst>
          </p:cNvPr>
          <p:cNvSpPr txBox="1"/>
          <p:nvPr/>
        </p:nvSpPr>
        <p:spPr>
          <a:xfrm>
            <a:off x="67566" y="-13148"/>
            <a:ext cx="1202095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3939"/>
              </a:buClr>
              <a:buSzPts val="4000"/>
              <a:buFont typeface="Times New Roman" panose="02020603050405020304"/>
              <a:buNone/>
            </a:pPr>
            <a:r>
              <a:rPr lang="en-US" sz="4000" b="1" dirty="0">
                <a:solidFill>
                  <a:srgbClr val="733939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Company Profile</a:t>
            </a:r>
            <a:endParaRPr dirty="0"/>
          </a:p>
        </p:txBody>
      </p:sp>
      <p:cxnSp>
        <p:nvCxnSpPr>
          <p:cNvPr id="132" name="Google Shape;132;p16">
            <a:extLst>
              <a:ext uri="{FF2B5EF4-FFF2-40B4-BE49-F238E27FC236}">
                <a16:creationId xmlns:a16="http://schemas.microsoft.com/office/drawing/2014/main" id="{D85CC62A-4440-915C-7F17-EB28C4717415}"/>
              </a:ext>
            </a:extLst>
          </p:cNvPr>
          <p:cNvCxnSpPr/>
          <p:nvPr/>
        </p:nvCxnSpPr>
        <p:spPr>
          <a:xfrm rot="10800000" flipH="1">
            <a:off x="39856" y="66364"/>
            <a:ext cx="12084578" cy="14064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" name="Google Shape;133;p16">
            <a:extLst>
              <a:ext uri="{FF2B5EF4-FFF2-40B4-BE49-F238E27FC236}">
                <a16:creationId xmlns:a16="http://schemas.microsoft.com/office/drawing/2014/main" id="{23D2D925-9B4A-ECAD-833B-BD0670F10CA4}"/>
              </a:ext>
            </a:extLst>
          </p:cNvPr>
          <p:cNvCxnSpPr/>
          <p:nvPr/>
        </p:nvCxnSpPr>
        <p:spPr>
          <a:xfrm rot="10800000" flipH="1">
            <a:off x="39856" y="904564"/>
            <a:ext cx="12048664" cy="14064"/>
          </a:xfrm>
          <a:prstGeom prst="straightConnector1">
            <a:avLst/>
          </a:prstGeom>
          <a:noFill/>
          <a:ln w="1905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" name="Google Shape;134;p16">
            <a:extLst>
              <a:ext uri="{FF2B5EF4-FFF2-40B4-BE49-F238E27FC236}">
                <a16:creationId xmlns:a16="http://schemas.microsoft.com/office/drawing/2014/main" id="{282904D3-7F61-2191-82CE-004C5D660C51}"/>
              </a:ext>
            </a:extLst>
          </p:cNvPr>
          <p:cNvCxnSpPr/>
          <p:nvPr/>
        </p:nvCxnSpPr>
        <p:spPr>
          <a:xfrm rot="10800000" flipH="1">
            <a:off x="80818" y="6375827"/>
            <a:ext cx="12020954" cy="22573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5" name="Google Shape;135;p16" descr="Teacher">
            <a:extLst>
              <a:ext uri="{FF2B5EF4-FFF2-40B4-BE49-F238E27FC236}">
                <a16:creationId xmlns:a16="http://schemas.microsoft.com/office/drawing/2014/main" id="{03A3CCC1-D625-AAD7-4F66-D52DEEE4EF03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3480" y="80428"/>
            <a:ext cx="827584" cy="82758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002B7011-759C-A3BC-BD39-330A784E875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70C0"/>
                </a:solidFill>
              </a:rPr>
              <a:t>Date: 15/04/2026</a:t>
            </a:r>
            <a:endParaRPr sz="1600" b="1" dirty="0">
              <a:solidFill>
                <a:srgbClr val="0070C0"/>
              </a:solidFill>
            </a:endParaRPr>
          </a:p>
        </p:txBody>
      </p:sp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689FF0D8-726F-273C-6F00-76D07820DE6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sz="16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Google Shape;138;p16">
            <a:extLst>
              <a:ext uri="{FF2B5EF4-FFF2-40B4-BE49-F238E27FC236}">
                <a16:creationId xmlns:a16="http://schemas.microsoft.com/office/drawing/2014/main" id="{57DA9C0A-9985-E995-30A2-DF771B4BB2B8}"/>
              </a:ext>
            </a:extLst>
          </p:cNvPr>
          <p:cNvSpPr txBox="1"/>
          <p:nvPr/>
        </p:nvSpPr>
        <p:spPr>
          <a:xfrm>
            <a:off x="80818" y="956090"/>
            <a:ext cx="1198504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Edutainer is an education-focused online learning platform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skill-based training for students and professionals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Bridges gap between academic knowledge and industry needs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courses in Web Development, Data Science, and more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practical learning and real-world applications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career growth through hands-on training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flexible and industry-oriented learning environment </a:t>
            </a:r>
          </a:p>
          <a:p>
            <a:pPr marL="342900" marR="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endParaRPr sz="2400" i="0" u="none" strike="noStrike" cap="none" dirty="0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0" name="Google Shape;140;p16">
            <a:extLst>
              <a:ext uri="{FF2B5EF4-FFF2-40B4-BE49-F238E27FC236}">
                <a16:creationId xmlns:a16="http://schemas.microsoft.com/office/drawing/2014/main" id="{98A8FFEB-2CC5-C086-DFD3-7BD56E4CA9A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41069" y="6435862"/>
            <a:ext cx="8368882" cy="36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r>
              <a:rPr lang="en-US" sz="1600" i="1" dirty="0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Web Development Intern(entry level)</a:t>
            </a:r>
            <a:endParaRPr lang="en-US" sz="14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229894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364F7278-896D-8774-8920-5C9ACBE3E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>
            <a:extLst>
              <a:ext uri="{FF2B5EF4-FFF2-40B4-BE49-F238E27FC236}">
                <a16:creationId xmlns:a16="http://schemas.microsoft.com/office/drawing/2014/main" id="{9EF2EADD-8954-6B8D-F845-FDDBA2EC42A2}"/>
              </a:ext>
            </a:extLst>
          </p:cNvPr>
          <p:cNvSpPr txBox="1"/>
          <p:nvPr/>
        </p:nvSpPr>
        <p:spPr>
          <a:xfrm>
            <a:off x="67566" y="-13148"/>
            <a:ext cx="1202095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3939"/>
              </a:buClr>
              <a:buSzPts val="4000"/>
              <a:buFont typeface="Times New Roman" panose="02020603050405020304"/>
              <a:buNone/>
            </a:pPr>
            <a:r>
              <a:rPr lang="en-US" sz="4000" b="1" dirty="0">
                <a:solidFill>
                  <a:srgbClr val="733939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About the Company</a:t>
            </a:r>
            <a:endParaRPr dirty="0"/>
          </a:p>
        </p:txBody>
      </p:sp>
      <p:cxnSp>
        <p:nvCxnSpPr>
          <p:cNvPr id="132" name="Google Shape;132;p16">
            <a:extLst>
              <a:ext uri="{FF2B5EF4-FFF2-40B4-BE49-F238E27FC236}">
                <a16:creationId xmlns:a16="http://schemas.microsoft.com/office/drawing/2014/main" id="{DF0D4F67-16FB-CCC1-BA4E-9E19EF0BE840}"/>
              </a:ext>
            </a:extLst>
          </p:cNvPr>
          <p:cNvCxnSpPr/>
          <p:nvPr/>
        </p:nvCxnSpPr>
        <p:spPr>
          <a:xfrm rot="10800000" flipH="1">
            <a:off x="39856" y="66364"/>
            <a:ext cx="12084578" cy="14064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" name="Google Shape;133;p16">
            <a:extLst>
              <a:ext uri="{FF2B5EF4-FFF2-40B4-BE49-F238E27FC236}">
                <a16:creationId xmlns:a16="http://schemas.microsoft.com/office/drawing/2014/main" id="{223ABBE8-87AB-275A-A46F-C3B32F48C78F}"/>
              </a:ext>
            </a:extLst>
          </p:cNvPr>
          <p:cNvCxnSpPr/>
          <p:nvPr/>
        </p:nvCxnSpPr>
        <p:spPr>
          <a:xfrm rot="10800000" flipH="1">
            <a:off x="39856" y="904564"/>
            <a:ext cx="12048664" cy="14064"/>
          </a:xfrm>
          <a:prstGeom prst="straightConnector1">
            <a:avLst/>
          </a:prstGeom>
          <a:noFill/>
          <a:ln w="1905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" name="Google Shape;134;p16">
            <a:extLst>
              <a:ext uri="{FF2B5EF4-FFF2-40B4-BE49-F238E27FC236}">
                <a16:creationId xmlns:a16="http://schemas.microsoft.com/office/drawing/2014/main" id="{757D5997-6B4C-B72B-0A8E-8C46FC409D3D}"/>
              </a:ext>
            </a:extLst>
          </p:cNvPr>
          <p:cNvCxnSpPr/>
          <p:nvPr/>
        </p:nvCxnSpPr>
        <p:spPr>
          <a:xfrm rot="10800000" flipH="1">
            <a:off x="80818" y="6375827"/>
            <a:ext cx="12020954" cy="22573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5" name="Google Shape;135;p16" descr="Teacher">
            <a:extLst>
              <a:ext uri="{FF2B5EF4-FFF2-40B4-BE49-F238E27FC236}">
                <a16:creationId xmlns:a16="http://schemas.microsoft.com/office/drawing/2014/main" id="{E5C10734-D586-F2DD-6455-1A97DB308FF3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3480" y="80428"/>
            <a:ext cx="827584" cy="82758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6CE5AE12-41C5-9CB1-4F62-2DD3C29AB442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70C0"/>
                </a:solidFill>
              </a:rPr>
              <a:t>Date: 15/04/2026</a:t>
            </a:r>
            <a:endParaRPr sz="1600" b="1" dirty="0">
              <a:solidFill>
                <a:srgbClr val="0070C0"/>
              </a:solidFill>
            </a:endParaRPr>
          </a:p>
        </p:txBody>
      </p:sp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C5788244-1AD7-12FE-04A5-6902435D2C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sz="16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Google Shape;138;p16">
            <a:extLst>
              <a:ext uri="{FF2B5EF4-FFF2-40B4-BE49-F238E27FC236}">
                <a16:creationId xmlns:a16="http://schemas.microsoft.com/office/drawing/2014/main" id="{BC27CE73-E24F-E0DA-435B-B985AC9C4C72}"/>
              </a:ext>
            </a:extLst>
          </p:cNvPr>
          <p:cNvSpPr txBox="1"/>
          <p:nvPr/>
        </p:nvSpPr>
        <p:spPr>
          <a:xfrm>
            <a:off x="80818" y="956090"/>
            <a:ext cx="11985040" cy="5206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Edutainer is an education-focused online platform that provides innovative and practical learning solutions for students and professionals. It offers skill-based training programs designed to enhance knowledge and prepare learners for industry requirements.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focuses on bridging the gap between academic learning and real-world applications by providing courses in areas such as Web Development, Data Science, Digital Marketing, and more. It specializes in educational content development, research, and skill enhancement.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Edutainer promotes career growth through hands-on projects, practical learning, and flexible training methods, helping students become industry-ready professionals.</a:t>
            </a:r>
          </a:p>
        </p:txBody>
      </p:sp>
      <p:sp>
        <p:nvSpPr>
          <p:cNvPr id="140" name="Google Shape;140;p16">
            <a:extLst>
              <a:ext uri="{FF2B5EF4-FFF2-40B4-BE49-F238E27FC236}">
                <a16:creationId xmlns:a16="http://schemas.microsoft.com/office/drawing/2014/main" id="{45903453-B647-159D-9774-2393CAA8C92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41069" y="6435862"/>
            <a:ext cx="8368882" cy="36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r>
              <a:rPr lang="en-US" sz="1600" i="1" dirty="0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Web Development Intern(entry level)</a:t>
            </a:r>
            <a:endParaRPr lang="en-US" sz="14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endParaRPr lang="en-US" sz="1600" b="1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905232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A8537D50-FA4C-CC06-5129-A6FC3A52F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>
            <a:extLst>
              <a:ext uri="{FF2B5EF4-FFF2-40B4-BE49-F238E27FC236}">
                <a16:creationId xmlns:a16="http://schemas.microsoft.com/office/drawing/2014/main" id="{3775A77C-6954-8AC3-8121-EA380784B856}"/>
              </a:ext>
            </a:extLst>
          </p:cNvPr>
          <p:cNvSpPr txBox="1"/>
          <p:nvPr/>
        </p:nvSpPr>
        <p:spPr>
          <a:xfrm>
            <a:off x="67566" y="-13148"/>
            <a:ext cx="1202095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3939"/>
              </a:buClr>
              <a:buSzPts val="4000"/>
              <a:buFont typeface="Times New Roman" panose="02020603050405020304"/>
              <a:buNone/>
            </a:pPr>
            <a:r>
              <a:rPr lang="en-US" sz="4000" b="1" dirty="0">
                <a:solidFill>
                  <a:srgbClr val="733939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Software tools Used</a:t>
            </a:r>
            <a:endParaRPr dirty="0"/>
          </a:p>
        </p:txBody>
      </p:sp>
      <p:cxnSp>
        <p:nvCxnSpPr>
          <p:cNvPr id="132" name="Google Shape;132;p16">
            <a:extLst>
              <a:ext uri="{FF2B5EF4-FFF2-40B4-BE49-F238E27FC236}">
                <a16:creationId xmlns:a16="http://schemas.microsoft.com/office/drawing/2014/main" id="{F734D92F-7DDC-F6A4-FED6-70FC7BEC4B5E}"/>
              </a:ext>
            </a:extLst>
          </p:cNvPr>
          <p:cNvCxnSpPr/>
          <p:nvPr/>
        </p:nvCxnSpPr>
        <p:spPr>
          <a:xfrm rot="10800000" flipH="1">
            <a:off x="39856" y="66364"/>
            <a:ext cx="12084578" cy="14064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" name="Google Shape;133;p16">
            <a:extLst>
              <a:ext uri="{FF2B5EF4-FFF2-40B4-BE49-F238E27FC236}">
                <a16:creationId xmlns:a16="http://schemas.microsoft.com/office/drawing/2014/main" id="{0D5EFC11-97B7-5C42-BA57-7D91EFFC3398}"/>
              </a:ext>
            </a:extLst>
          </p:cNvPr>
          <p:cNvCxnSpPr/>
          <p:nvPr/>
        </p:nvCxnSpPr>
        <p:spPr>
          <a:xfrm rot="10800000" flipH="1">
            <a:off x="39856" y="904564"/>
            <a:ext cx="12048664" cy="14064"/>
          </a:xfrm>
          <a:prstGeom prst="straightConnector1">
            <a:avLst/>
          </a:prstGeom>
          <a:noFill/>
          <a:ln w="1905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" name="Google Shape;134;p16">
            <a:extLst>
              <a:ext uri="{FF2B5EF4-FFF2-40B4-BE49-F238E27FC236}">
                <a16:creationId xmlns:a16="http://schemas.microsoft.com/office/drawing/2014/main" id="{5166E2D2-D720-687E-7790-2E8FCB6F4B51}"/>
              </a:ext>
            </a:extLst>
          </p:cNvPr>
          <p:cNvCxnSpPr/>
          <p:nvPr/>
        </p:nvCxnSpPr>
        <p:spPr>
          <a:xfrm rot="10800000" flipH="1">
            <a:off x="80818" y="6375827"/>
            <a:ext cx="12020954" cy="22573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5" name="Google Shape;135;p16" descr="Teacher">
            <a:extLst>
              <a:ext uri="{FF2B5EF4-FFF2-40B4-BE49-F238E27FC236}">
                <a16:creationId xmlns:a16="http://schemas.microsoft.com/office/drawing/2014/main" id="{E655C8BA-5D95-CFD4-A9FA-DD1D435CB80D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3480" y="80428"/>
            <a:ext cx="827584" cy="82758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B43917CA-E467-A128-05A7-6815975412F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70C0"/>
                </a:solidFill>
              </a:rPr>
              <a:t>Date: 15/04/2026</a:t>
            </a:r>
            <a:endParaRPr sz="1600" b="1" dirty="0">
              <a:solidFill>
                <a:srgbClr val="0070C0"/>
              </a:solidFill>
            </a:endParaRPr>
          </a:p>
        </p:txBody>
      </p:sp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318FF9B1-7D4C-8E60-038C-89F12866FE7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sz="16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Google Shape;138;p16">
            <a:extLst>
              <a:ext uri="{FF2B5EF4-FFF2-40B4-BE49-F238E27FC236}">
                <a16:creationId xmlns:a16="http://schemas.microsoft.com/office/drawing/2014/main" id="{4D1C4736-52A7-6E95-7124-539EA7DB4431}"/>
              </a:ext>
            </a:extLst>
          </p:cNvPr>
          <p:cNvSpPr txBox="1"/>
          <p:nvPr/>
        </p:nvSpPr>
        <p:spPr>
          <a:xfrm>
            <a:off x="80818" y="970156"/>
            <a:ext cx="11985040" cy="51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Merriweather" panose="00000500000000000000"/>
                <a:cs typeface="Times New Roman" panose="02020603050405020304" pitchFamily="18" charset="0"/>
                <a:sym typeface="Merriweather" panose="00000500000000000000"/>
              </a:rPr>
              <a:t>Python – Used for backend development and application logic</a:t>
            </a:r>
          </a:p>
          <a:p>
            <a:pPr lvl="1"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Merriweather" panose="00000500000000000000"/>
                <a:cs typeface="Times New Roman" panose="02020603050405020304" pitchFamily="18" charset="0"/>
                <a:sym typeface="Merriweather" panose="00000500000000000000"/>
              </a:rPr>
              <a:t>HTML, CSS, JavaScript – Used for building responsive frontend interfaces</a:t>
            </a:r>
          </a:p>
          <a:p>
            <a:pPr lvl="1"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Merriweather" panose="00000500000000000000"/>
                <a:cs typeface="Times New Roman" panose="02020603050405020304" pitchFamily="18" charset="0"/>
                <a:sym typeface="Merriweather" panose="00000500000000000000"/>
              </a:rPr>
              <a:t>Flask / Django – Frameworks for developing web applications</a:t>
            </a: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Merriweather" panose="00000500000000000000"/>
                <a:cs typeface="Times New Roman" panose="02020603050405020304" pitchFamily="18" charset="0"/>
                <a:sym typeface="Merriweather" panose="00000500000000000000"/>
              </a:rPr>
              <a:t>MySQL / SQLite – Database for storing and managing application data</a:t>
            </a:r>
          </a:p>
          <a:p>
            <a:pPr lvl="1"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Merriweather" panose="00000500000000000000"/>
                <a:cs typeface="Times New Roman" panose="02020603050405020304" pitchFamily="18" charset="0"/>
                <a:sym typeface="Merriweather" panose="00000500000000000000"/>
              </a:rPr>
              <a:t>REST APIs – Used for communication between frontend and backend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Merriweather" panose="00000500000000000000"/>
                <a:cs typeface="Times New Roman" panose="02020603050405020304" pitchFamily="18" charset="0"/>
                <a:sym typeface="Merriweather" panose="00000500000000000000"/>
              </a:rPr>
              <a:t>Technologies Used:</a:t>
            </a: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 / PyCharm - Development and debugging environment e</a:t>
            </a: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⁠Postman - API testing and validation–</a:t>
            </a: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 &amp; GitHub - Version control and code management</a:t>
            </a: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testing and validation Git &amp; GitHub </a:t>
            </a:r>
            <a:endParaRPr lang="en-US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Merriweather" panose="00000500000000000000"/>
              <a:cs typeface="Times New Roman" panose="02020603050405020304" pitchFamily="18" charset="0"/>
              <a:sym typeface="Merriweather" panose="00000500000000000000"/>
            </a:endParaRPr>
          </a:p>
        </p:txBody>
      </p:sp>
      <p:sp>
        <p:nvSpPr>
          <p:cNvPr id="140" name="Google Shape;140;p16">
            <a:extLst>
              <a:ext uri="{FF2B5EF4-FFF2-40B4-BE49-F238E27FC236}">
                <a16:creationId xmlns:a16="http://schemas.microsoft.com/office/drawing/2014/main" id="{ADF2B144-131F-6C13-18B7-2B1B1E6B56A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41069" y="6435862"/>
            <a:ext cx="8368882" cy="36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r>
              <a:rPr lang="en-US" sz="1600" i="1" dirty="0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Web Development Intern(entry level)</a:t>
            </a:r>
            <a:endParaRPr lang="en-US" sz="14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23946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B9B8F97C-8371-B05C-0740-E3138AD5B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>
            <a:extLst>
              <a:ext uri="{FF2B5EF4-FFF2-40B4-BE49-F238E27FC236}">
                <a16:creationId xmlns:a16="http://schemas.microsoft.com/office/drawing/2014/main" id="{1E4ED68C-9D90-9B70-B5AD-204C49926778}"/>
              </a:ext>
            </a:extLst>
          </p:cNvPr>
          <p:cNvSpPr txBox="1"/>
          <p:nvPr/>
        </p:nvSpPr>
        <p:spPr>
          <a:xfrm>
            <a:off x="67566" y="-13148"/>
            <a:ext cx="1202095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3939"/>
              </a:buClr>
              <a:buSzPts val="4000"/>
              <a:buFont typeface="Times New Roman" panose="02020603050405020304"/>
              <a:buNone/>
            </a:pPr>
            <a:r>
              <a:rPr lang="en-US" sz="4000" b="1" dirty="0">
                <a:solidFill>
                  <a:srgbClr val="733939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Task Performed</a:t>
            </a:r>
            <a:endParaRPr dirty="0"/>
          </a:p>
        </p:txBody>
      </p:sp>
      <p:cxnSp>
        <p:nvCxnSpPr>
          <p:cNvPr id="132" name="Google Shape;132;p16">
            <a:extLst>
              <a:ext uri="{FF2B5EF4-FFF2-40B4-BE49-F238E27FC236}">
                <a16:creationId xmlns:a16="http://schemas.microsoft.com/office/drawing/2014/main" id="{956D6F58-EB91-C436-ECC7-5F62F9FA4253}"/>
              </a:ext>
            </a:extLst>
          </p:cNvPr>
          <p:cNvCxnSpPr/>
          <p:nvPr/>
        </p:nvCxnSpPr>
        <p:spPr>
          <a:xfrm rot="10800000" flipH="1">
            <a:off x="39856" y="66364"/>
            <a:ext cx="12084578" cy="14064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" name="Google Shape;133;p16">
            <a:extLst>
              <a:ext uri="{FF2B5EF4-FFF2-40B4-BE49-F238E27FC236}">
                <a16:creationId xmlns:a16="http://schemas.microsoft.com/office/drawing/2014/main" id="{74274272-F652-E183-28C5-CEFF896F70BF}"/>
              </a:ext>
            </a:extLst>
          </p:cNvPr>
          <p:cNvCxnSpPr/>
          <p:nvPr/>
        </p:nvCxnSpPr>
        <p:spPr>
          <a:xfrm rot="10800000" flipH="1">
            <a:off x="39856" y="904564"/>
            <a:ext cx="12048664" cy="14064"/>
          </a:xfrm>
          <a:prstGeom prst="straightConnector1">
            <a:avLst/>
          </a:prstGeom>
          <a:noFill/>
          <a:ln w="1905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" name="Google Shape;134;p16">
            <a:extLst>
              <a:ext uri="{FF2B5EF4-FFF2-40B4-BE49-F238E27FC236}">
                <a16:creationId xmlns:a16="http://schemas.microsoft.com/office/drawing/2014/main" id="{EAB1E0D9-2D7B-C651-73AC-B00CE65A581D}"/>
              </a:ext>
            </a:extLst>
          </p:cNvPr>
          <p:cNvCxnSpPr/>
          <p:nvPr/>
        </p:nvCxnSpPr>
        <p:spPr>
          <a:xfrm rot="10800000" flipH="1">
            <a:off x="80818" y="6375827"/>
            <a:ext cx="12020954" cy="22573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5" name="Google Shape;135;p16" descr="Teacher">
            <a:extLst>
              <a:ext uri="{FF2B5EF4-FFF2-40B4-BE49-F238E27FC236}">
                <a16:creationId xmlns:a16="http://schemas.microsoft.com/office/drawing/2014/main" id="{A5EDEA69-DAAA-7ED8-F93F-BA184418FC8F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3480" y="80428"/>
            <a:ext cx="827584" cy="82758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90D13DBD-81AD-F38A-D7D2-5F24C25912A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70C0"/>
                </a:solidFill>
              </a:rPr>
              <a:t>Date: 15/04/2026</a:t>
            </a:r>
            <a:endParaRPr sz="1600" b="1" dirty="0">
              <a:solidFill>
                <a:srgbClr val="0070C0"/>
              </a:solidFill>
            </a:endParaRPr>
          </a:p>
        </p:txBody>
      </p:sp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ED0944E4-3A82-EE39-3B2E-D0D43441DAC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sz="16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Google Shape;138;p16">
            <a:extLst>
              <a:ext uri="{FF2B5EF4-FFF2-40B4-BE49-F238E27FC236}">
                <a16:creationId xmlns:a16="http://schemas.microsoft.com/office/drawing/2014/main" id="{AFBC7F86-33CE-2AE5-153A-E952BC8CE1DF}"/>
              </a:ext>
            </a:extLst>
          </p:cNvPr>
          <p:cNvSpPr txBox="1"/>
          <p:nvPr/>
        </p:nvSpPr>
        <p:spPr>
          <a:xfrm>
            <a:off x="80818" y="970156"/>
            <a:ext cx="11985040" cy="5645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Frontend Development</a:t>
            </a: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Designed basic UI using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HTML,CSS,Javascript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Merriweather" panose="0000050000000000000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responsive web pages</a:t>
            </a: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Backend Development(Python)</a:t>
            </a: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backend logic using Python</a:t>
            </a: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data processing and server-side operations</a:t>
            </a:r>
          </a:p>
          <a:p>
            <a:pPr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Development (Django)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backend using Django framework </a:t>
            </a:r>
          </a:p>
          <a:p>
            <a:pPr marL="10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routing, views, and data processing </a:t>
            </a:r>
          </a:p>
          <a:p>
            <a:pPr marL="10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frontend with backend using Django templates</a:t>
            </a:r>
          </a:p>
          <a:p>
            <a:pPr algn="just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</a:t>
            </a: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CRUD operations</a:t>
            </a: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Managed and structured data efficiently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Merriweather" panose="0000050000000000000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dirty="0">
              <a:sym typeface="Merriweather" panose="00000500000000000000"/>
            </a:endParaRPr>
          </a:p>
        </p:txBody>
      </p:sp>
      <p:sp>
        <p:nvSpPr>
          <p:cNvPr id="140" name="Google Shape;140;p16">
            <a:extLst>
              <a:ext uri="{FF2B5EF4-FFF2-40B4-BE49-F238E27FC236}">
                <a16:creationId xmlns:a16="http://schemas.microsoft.com/office/drawing/2014/main" id="{FBD07910-8BF8-7421-ADD6-73CCC56D208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41069" y="6435862"/>
            <a:ext cx="8368882" cy="36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r>
              <a:rPr lang="en-US" sz="1600" i="1" dirty="0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Web Development Intern(entry level)</a:t>
            </a:r>
            <a:endParaRPr lang="en-US" sz="14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807497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B9B8F97C-8371-B05C-0740-E3138AD5B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>
            <a:extLst>
              <a:ext uri="{FF2B5EF4-FFF2-40B4-BE49-F238E27FC236}">
                <a16:creationId xmlns:a16="http://schemas.microsoft.com/office/drawing/2014/main" id="{1E4ED68C-9D90-9B70-B5AD-204C49926778}"/>
              </a:ext>
            </a:extLst>
          </p:cNvPr>
          <p:cNvSpPr txBox="1"/>
          <p:nvPr/>
        </p:nvSpPr>
        <p:spPr>
          <a:xfrm>
            <a:off x="67566" y="-13148"/>
            <a:ext cx="1202095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3939"/>
              </a:buClr>
              <a:buSzPts val="4000"/>
              <a:buFont typeface="Times New Roman" panose="02020603050405020304"/>
              <a:buNone/>
            </a:pPr>
            <a:r>
              <a:rPr lang="en-US" sz="4000" b="1" dirty="0">
                <a:solidFill>
                  <a:srgbClr val="733939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Task Performed</a:t>
            </a:r>
            <a:endParaRPr dirty="0"/>
          </a:p>
        </p:txBody>
      </p:sp>
      <p:cxnSp>
        <p:nvCxnSpPr>
          <p:cNvPr id="132" name="Google Shape;132;p16">
            <a:extLst>
              <a:ext uri="{FF2B5EF4-FFF2-40B4-BE49-F238E27FC236}">
                <a16:creationId xmlns:a16="http://schemas.microsoft.com/office/drawing/2014/main" id="{956D6F58-EB91-C436-ECC7-5F62F9FA4253}"/>
              </a:ext>
            </a:extLst>
          </p:cNvPr>
          <p:cNvCxnSpPr/>
          <p:nvPr/>
        </p:nvCxnSpPr>
        <p:spPr>
          <a:xfrm rot="10800000" flipH="1">
            <a:off x="39856" y="66364"/>
            <a:ext cx="12084578" cy="14064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" name="Google Shape;133;p16">
            <a:extLst>
              <a:ext uri="{FF2B5EF4-FFF2-40B4-BE49-F238E27FC236}">
                <a16:creationId xmlns:a16="http://schemas.microsoft.com/office/drawing/2014/main" id="{74274272-F652-E183-28C5-CEFF896F70BF}"/>
              </a:ext>
            </a:extLst>
          </p:cNvPr>
          <p:cNvCxnSpPr/>
          <p:nvPr/>
        </p:nvCxnSpPr>
        <p:spPr>
          <a:xfrm rot="10800000" flipH="1">
            <a:off x="39856" y="904564"/>
            <a:ext cx="12048664" cy="14064"/>
          </a:xfrm>
          <a:prstGeom prst="straightConnector1">
            <a:avLst/>
          </a:prstGeom>
          <a:noFill/>
          <a:ln w="1905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" name="Google Shape;134;p16">
            <a:extLst>
              <a:ext uri="{FF2B5EF4-FFF2-40B4-BE49-F238E27FC236}">
                <a16:creationId xmlns:a16="http://schemas.microsoft.com/office/drawing/2014/main" id="{EAB1E0D9-2D7B-C651-73AC-B00CE65A581D}"/>
              </a:ext>
            </a:extLst>
          </p:cNvPr>
          <p:cNvCxnSpPr/>
          <p:nvPr/>
        </p:nvCxnSpPr>
        <p:spPr>
          <a:xfrm rot="10800000" flipH="1">
            <a:off x="80818" y="6375827"/>
            <a:ext cx="12020954" cy="22573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5" name="Google Shape;135;p16" descr="Teacher">
            <a:extLst>
              <a:ext uri="{FF2B5EF4-FFF2-40B4-BE49-F238E27FC236}">
                <a16:creationId xmlns:a16="http://schemas.microsoft.com/office/drawing/2014/main" id="{A5EDEA69-DAAA-7ED8-F93F-BA184418FC8F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3480" y="80428"/>
            <a:ext cx="827584" cy="82758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90D13DBD-81AD-F38A-D7D2-5F24C25912A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70C0"/>
                </a:solidFill>
              </a:rPr>
              <a:t>Date: 15/04/2026</a:t>
            </a:r>
            <a:endParaRPr sz="1600" b="1" dirty="0">
              <a:solidFill>
                <a:srgbClr val="0070C0"/>
              </a:solidFill>
            </a:endParaRPr>
          </a:p>
        </p:txBody>
      </p:sp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ED0944E4-3A82-EE39-3B2E-D0D43441DAC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sz="16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Google Shape;138;p16">
            <a:extLst>
              <a:ext uri="{FF2B5EF4-FFF2-40B4-BE49-F238E27FC236}">
                <a16:creationId xmlns:a16="http://schemas.microsoft.com/office/drawing/2014/main" id="{AFBC7F86-33CE-2AE5-153A-E952BC8CE1DF}"/>
              </a:ext>
            </a:extLst>
          </p:cNvPr>
          <p:cNvSpPr txBox="1"/>
          <p:nvPr/>
        </p:nvSpPr>
        <p:spPr>
          <a:xfrm>
            <a:off x="80818" y="970156"/>
            <a:ext cx="11985040" cy="5645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Development environment setup</a:t>
            </a: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Configured VS Code and local Django project environment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Learned and practiced HTML, CSS, JavaScript basics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Merriweather" panose="0000050000000000000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Python programming fundamentals</a:t>
            </a: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Worked with Django views, templates, and URL routing</a:t>
            </a: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responsive pages using Stitch/Tailwind templates</a:t>
            </a: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frontend pages with Django backend routes</a:t>
            </a:r>
          </a:p>
          <a:p>
            <a:pPr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SQLite database for development and testing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Maintained project files inside banking_system folder</a:t>
            </a:r>
          </a:p>
          <a:p>
            <a:pPr marL="10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Merriweather" panose="0000050000000000000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dirty="0">
              <a:sym typeface="Merriweather" panose="00000500000000000000"/>
            </a:endParaRPr>
          </a:p>
        </p:txBody>
      </p:sp>
      <p:sp>
        <p:nvSpPr>
          <p:cNvPr id="140" name="Google Shape;140;p16">
            <a:extLst>
              <a:ext uri="{FF2B5EF4-FFF2-40B4-BE49-F238E27FC236}">
                <a16:creationId xmlns:a16="http://schemas.microsoft.com/office/drawing/2014/main" id="{FBD07910-8BF8-7421-ADD6-73CCC56D208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41069" y="6435862"/>
            <a:ext cx="8368882" cy="36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r>
              <a:rPr lang="en-US" sz="1600" i="1" dirty="0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Web Development Intern(entry level)</a:t>
            </a:r>
            <a:endParaRPr lang="en-US" sz="14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807497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B9B8F97C-8371-B05C-0740-E3138AD5B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>
            <a:extLst>
              <a:ext uri="{FF2B5EF4-FFF2-40B4-BE49-F238E27FC236}">
                <a16:creationId xmlns:a16="http://schemas.microsoft.com/office/drawing/2014/main" id="{1E4ED68C-9D90-9B70-B5AD-204C49926778}"/>
              </a:ext>
            </a:extLst>
          </p:cNvPr>
          <p:cNvSpPr txBox="1"/>
          <p:nvPr/>
        </p:nvSpPr>
        <p:spPr>
          <a:xfrm>
            <a:off x="67566" y="-13148"/>
            <a:ext cx="1202095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3939"/>
              </a:buClr>
              <a:buSzPts val="4000"/>
              <a:buFont typeface="Times New Roman" panose="02020603050405020304"/>
              <a:buNone/>
            </a:pPr>
            <a:r>
              <a:rPr lang="en-US" sz="4000" b="1" dirty="0">
                <a:solidFill>
                  <a:srgbClr val="733939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Task Performed</a:t>
            </a:r>
            <a:endParaRPr dirty="0"/>
          </a:p>
        </p:txBody>
      </p:sp>
      <p:cxnSp>
        <p:nvCxnSpPr>
          <p:cNvPr id="132" name="Google Shape;132;p16">
            <a:extLst>
              <a:ext uri="{FF2B5EF4-FFF2-40B4-BE49-F238E27FC236}">
                <a16:creationId xmlns:a16="http://schemas.microsoft.com/office/drawing/2014/main" id="{956D6F58-EB91-C436-ECC7-5F62F9FA4253}"/>
              </a:ext>
            </a:extLst>
          </p:cNvPr>
          <p:cNvCxnSpPr/>
          <p:nvPr/>
        </p:nvCxnSpPr>
        <p:spPr>
          <a:xfrm rot="10800000" flipH="1">
            <a:off x="39856" y="66364"/>
            <a:ext cx="12084578" cy="14064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" name="Google Shape;133;p16">
            <a:extLst>
              <a:ext uri="{FF2B5EF4-FFF2-40B4-BE49-F238E27FC236}">
                <a16:creationId xmlns:a16="http://schemas.microsoft.com/office/drawing/2014/main" id="{74274272-F652-E183-28C5-CEFF896F70BF}"/>
              </a:ext>
            </a:extLst>
          </p:cNvPr>
          <p:cNvCxnSpPr/>
          <p:nvPr/>
        </p:nvCxnSpPr>
        <p:spPr>
          <a:xfrm rot="10800000" flipH="1">
            <a:off x="39856" y="904564"/>
            <a:ext cx="12048664" cy="14064"/>
          </a:xfrm>
          <a:prstGeom prst="straightConnector1">
            <a:avLst/>
          </a:prstGeom>
          <a:noFill/>
          <a:ln w="1905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" name="Google Shape;134;p16">
            <a:extLst>
              <a:ext uri="{FF2B5EF4-FFF2-40B4-BE49-F238E27FC236}">
                <a16:creationId xmlns:a16="http://schemas.microsoft.com/office/drawing/2014/main" id="{EAB1E0D9-2D7B-C651-73AC-B00CE65A581D}"/>
              </a:ext>
            </a:extLst>
          </p:cNvPr>
          <p:cNvCxnSpPr/>
          <p:nvPr/>
        </p:nvCxnSpPr>
        <p:spPr>
          <a:xfrm rot="10800000" flipH="1">
            <a:off x="80818" y="6375827"/>
            <a:ext cx="12020954" cy="22573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5" name="Google Shape;135;p16" descr="Teacher">
            <a:extLst>
              <a:ext uri="{FF2B5EF4-FFF2-40B4-BE49-F238E27FC236}">
                <a16:creationId xmlns:a16="http://schemas.microsoft.com/office/drawing/2014/main" id="{A5EDEA69-DAAA-7ED8-F93F-BA184418FC8F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3480" y="80428"/>
            <a:ext cx="827584" cy="82758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90D13DBD-81AD-F38A-D7D2-5F24C25912A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70C0"/>
                </a:solidFill>
              </a:rPr>
              <a:t>Date: 15/04/2026</a:t>
            </a:r>
            <a:endParaRPr sz="1600" b="1" dirty="0">
              <a:solidFill>
                <a:srgbClr val="0070C0"/>
              </a:solidFill>
            </a:endParaRPr>
          </a:p>
        </p:txBody>
      </p:sp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ED0944E4-3A82-EE39-3B2E-D0D43441DAC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sz="16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Google Shape;138;p16">
            <a:extLst>
              <a:ext uri="{FF2B5EF4-FFF2-40B4-BE49-F238E27FC236}">
                <a16:creationId xmlns:a16="http://schemas.microsoft.com/office/drawing/2014/main" id="{AFBC7F86-33CE-2AE5-153A-E952BC8CE1DF}"/>
              </a:ext>
            </a:extLst>
          </p:cNvPr>
          <p:cNvSpPr txBox="1"/>
          <p:nvPr/>
        </p:nvSpPr>
        <p:spPr>
          <a:xfrm>
            <a:off x="80818" y="970156"/>
            <a:ext cx="11985040" cy="5645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Frontend Development</a:t>
            </a: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Designed login, register, accounts, summary and transfer screens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Created account details page with transaction history section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Merriweather" panose="0000050000000000000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add-account, edit-account, transactions and no-account pages</a:t>
            </a: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Backend Development</a:t>
            </a: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Django URL mapping for all project pages</a:t>
            </a: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login/register flow and dashboard redirection</a:t>
            </a:r>
          </a:p>
          <a:p>
            <a:pPr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add account logic with CSRF-enabled form submission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Debugged page navigation and button actions</a:t>
            </a:r>
          </a:p>
          <a:p>
            <a:pPr marL="10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Merriweather" panose="0000050000000000000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dirty="0">
              <a:sym typeface="Merriweather" panose="00000500000000000000"/>
            </a:endParaRPr>
          </a:p>
        </p:txBody>
      </p:sp>
      <p:sp>
        <p:nvSpPr>
          <p:cNvPr id="140" name="Google Shape;140;p16">
            <a:extLst>
              <a:ext uri="{FF2B5EF4-FFF2-40B4-BE49-F238E27FC236}">
                <a16:creationId xmlns:a16="http://schemas.microsoft.com/office/drawing/2014/main" id="{FBD07910-8BF8-7421-ADD6-73CCC56D208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41069" y="6435862"/>
            <a:ext cx="8368882" cy="36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r>
              <a:rPr lang="en-US" sz="1600" i="1" dirty="0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Web Development Intern(entry level)</a:t>
            </a:r>
            <a:endParaRPr lang="en-US" sz="14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807497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B9B8F97C-8371-B05C-0740-E3138AD5B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>
            <a:extLst>
              <a:ext uri="{FF2B5EF4-FFF2-40B4-BE49-F238E27FC236}">
                <a16:creationId xmlns:a16="http://schemas.microsoft.com/office/drawing/2014/main" id="{1E4ED68C-9D90-9B70-B5AD-204C49926778}"/>
              </a:ext>
            </a:extLst>
          </p:cNvPr>
          <p:cNvSpPr txBox="1"/>
          <p:nvPr/>
        </p:nvSpPr>
        <p:spPr>
          <a:xfrm>
            <a:off x="67566" y="-13148"/>
            <a:ext cx="1202095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3939"/>
              </a:buClr>
              <a:buSzPts val="4000"/>
              <a:buFont typeface="Times New Roman" panose="02020603050405020304"/>
              <a:buNone/>
            </a:pPr>
            <a:r>
              <a:rPr lang="en-US" sz="4000" b="1" dirty="0">
                <a:solidFill>
                  <a:srgbClr val="733939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Task Performed</a:t>
            </a:r>
            <a:endParaRPr dirty="0"/>
          </a:p>
        </p:txBody>
      </p:sp>
      <p:cxnSp>
        <p:nvCxnSpPr>
          <p:cNvPr id="132" name="Google Shape;132;p16">
            <a:extLst>
              <a:ext uri="{FF2B5EF4-FFF2-40B4-BE49-F238E27FC236}">
                <a16:creationId xmlns:a16="http://schemas.microsoft.com/office/drawing/2014/main" id="{956D6F58-EB91-C436-ECC7-5F62F9FA4253}"/>
              </a:ext>
            </a:extLst>
          </p:cNvPr>
          <p:cNvCxnSpPr/>
          <p:nvPr/>
        </p:nvCxnSpPr>
        <p:spPr>
          <a:xfrm rot="10800000" flipH="1">
            <a:off x="39856" y="66364"/>
            <a:ext cx="12084578" cy="14064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" name="Google Shape;133;p16">
            <a:extLst>
              <a:ext uri="{FF2B5EF4-FFF2-40B4-BE49-F238E27FC236}">
                <a16:creationId xmlns:a16="http://schemas.microsoft.com/office/drawing/2014/main" id="{74274272-F652-E183-28C5-CEFF896F70BF}"/>
              </a:ext>
            </a:extLst>
          </p:cNvPr>
          <p:cNvCxnSpPr/>
          <p:nvPr/>
        </p:nvCxnSpPr>
        <p:spPr>
          <a:xfrm rot="10800000" flipH="1">
            <a:off x="39856" y="904564"/>
            <a:ext cx="12048664" cy="14064"/>
          </a:xfrm>
          <a:prstGeom prst="straightConnector1">
            <a:avLst/>
          </a:prstGeom>
          <a:noFill/>
          <a:ln w="1905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" name="Google Shape;134;p16">
            <a:extLst>
              <a:ext uri="{FF2B5EF4-FFF2-40B4-BE49-F238E27FC236}">
                <a16:creationId xmlns:a16="http://schemas.microsoft.com/office/drawing/2014/main" id="{EAB1E0D9-2D7B-C651-73AC-B00CE65A581D}"/>
              </a:ext>
            </a:extLst>
          </p:cNvPr>
          <p:cNvCxnSpPr/>
          <p:nvPr/>
        </p:nvCxnSpPr>
        <p:spPr>
          <a:xfrm rot="10800000" flipH="1">
            <a:off x="80818" y="6375827"/>
            <a:ext cx="12020954" cy="22573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5" name="Google Shape;135;p16" descr="Teacher">
            <a:extLst>
              <a:ext uri="{FF2B5EF4-FFF2-40B4-BE49-F238E27FC236}">
                <a16:creationId xmlns:a16="http://schemas.microsoft.com/office/drawing/2014/main" id="{A5EDEA69-DAAA-7ED8-F93F-BA184418FC8F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3480" y="80428"/>
            <a:ext cx="827584" cy="82758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90D13DBD-81AD-F38A-D7D2-5F24C25912A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70C0"/>
                </a:solidFill>
              </a:rPr>
              <a:t>Date: 15/04/2026</a:t>
            </a:r>
            <a:endParaRPr sz="1600" b="1" dirty="0">
              <a:solidFill>
                <a:srgbClr val="0070C0"/>
              </a:solidFill>
            </a:endParaRPr>
          </a:p>
        </p:txBody>
      </p:sp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ED0944E4-3A82-EE39-3B2E-D0D43441DAC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 sz="16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Google Shape;138;p16">
            <a:extLst>
              <a:ext uri="{FF2B5EF4-FFF2-40B4-BE49-F238E27FC236}">
                <a16:creationId xmlns:a16="http://schemas.microsoft.com/office/drawing/2014/main" id="{AFBC7F86-33CE-2AE5-153A-E952BC8CE1DF}"/>
              </a:ext>
            </a:extLst>
          </p:cNvPr>
          <p:cNvSpPr txBox="1"/>
          <p:nvPr/>
        </p:nvSpPr>
        <p:spPr>
          <a:xfrm>
            <a:off x="80818" y="970156"/>
            <a:ext cx="11985040" cy="5645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Database and API Work</a:t>
            </a: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Created custom user model with email, name and phone fields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Created BankAccount model with account number, type and balance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Merriweather" panose="0000050000000000000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Transaction model for deposit, withdraw and transfer records</a:t>
            </a: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Implemented REST API for bank accounts and account details</a:t>
            </a: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API actions for deposit, withdraw, transfer and history</a:t>
            </a: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backend routes using local Django development server</a:t>
            </a:r>
          </a:p>
          <a:p>
            <a:pPr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UI behavior such as transaction pagination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project for future database-driven improvements</a:t>
            </a:r>
          </a:p>
          <a:p>
            <a:pPr marL="10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Merriweather" panose="0000050000000000000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dirty="0">
              <a:sym typeface="Merriweather" panose="00000500000000000000"/>
            </a:endParaRPr>
          </a:p>
        </p:txBody>
      </p:sp>
      <p:sp>
        <p:nvSpPr>
          <p:cNvPr id="140" name="Google Shape;140;p16">
            <a:extLst>
              <a:ext uri="{FF2B5EF4-FFF2-40B4-BE49-F238E27FC236}">
                <a16:creationId xmlns:a16="http://schemas.microsoft.com/office/drawing/2014/main" id="{FBD07910-8BF8-7421-ADD6-73CCC56D208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41069" y="6435862"/>
            <a:ext cx="8368882" cy="36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r>
              <a:rPr lang="en-US" sz="1600" i="1" dirty="0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Web Development Intern(entry level)</a:t>
            </a:r>
            <a:endParaRPr lang="en-US" sz="14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807497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B9B8F97C-8371-B05C-0740-E3138AD5B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>
            <a:extLst>
              <a:ext uri="{FF2B5EF4-FFF2-40B4-BE49-F238E27FC236}">
                <a16:creationId xmlns:a16="http://schemas.microsoft.com/office/drawing/2014/main" id="{1E4ED68C-9D90-9B70-B5AD-204C49926778}"/>
              </a:ext>
            </a:extLst>
          </p:cNvPr>
          <p:cNvSpPr txBox="1"/>
          <p:nvPr/>
        </p:nvSpPr>
        <p:spPr>
          <a:xfrm>
            <a:off x="67566" y="-13148"/>
            <a:ext cx="1202095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3939"/>
              </a:buClr>
              <a:buSzPts val="4000"/>
              <a:buFont typeface="Times New Roman" panose="02020603050405020304"/>
              <a:buNone/>
            </a:pPr>
            <a:r>
              <a:rPr lang="en-US" sz="4000" b="1" dirty="0">
                <a:solidFill>
                  <a:srgbClr val="733939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Task Performed</a:t>
            </a:r>
            <a:endParaRPr dirty="0"/>
          </a:p>
        </p:txBody>
      </p:sp>
      <p:cxnSp>
        <p:nvCxnSpPr>
          <p:cNvPr id="132" name="Google Shape;132;p16">
            <a:extLst>
              <a:ext uri="{FF2B5EF4-FFF2-40B4-BE49-F238E27FC236}">
                <a16:creationId xmlns:a16="http://schemas.microsoft.com/office/drawing/2014/main" id="{956D6F58-EB91-C436-ECC7-5F62F9FA4253}"/>
              </a:ext>
            </a:extLst>
          </p:cNvPr>
          <p:cNvCxnSpPr/>
          <p:nvPr/>
        </p:nvCxnSpPr>
        <p:spPr>
          <a:xfrm rot="10800000" flipH="1">
            <a:off x="39856" y="66364"/>
            <a:ext cx="12084578" cy="14064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" name="Google Shape;133;p16">
            <a:extLst>
              <a:ext uri="{FF2B5EF4-FFF2-40B4-BE49-F238E27FC236}">
                <a16:creationId xmlns:a16="http://schemas.microsoft.com/office/drawing/2014/main" id="{74274272-F652-E183-28C5-CEFF896F70BF}"/>
              </a:ext>
            </a:extLst>
          </p:cNvPr>
          <p:cNvCxnSpPr/>
          <p:nvPr/>
        </p:nvCxnSpPr>
        <p:spPr>
          <a:xfrm rot="10800000" flipH="1">
            <a:off x="39856" y="904564"/>
            <a:ext cx="12048664" cy="14064"/>
          </a:xfrm>
          <a:prstGeom prst="straightConnector1">
            <a:avLst/>
          </a:prstGeom>
          <a:noFill/>
          <a:ln w="1905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" name="Google Shape;134;p16">
            <a:extLst>
              <a:ext uri="{FF2B5EF4-FFF2-40B4-BE49-F238E27FC236}">
                <a16:creationId xmlns:a16="http://schemas.microsoft.com/office/drawing/2014/main" id="{EAB1E0D9-2D7B-C651-73AC-B00CE65A581D}"/>
              </a:ext>
            </a:extLst>
          </p:cNvPr>
          <p:cNvCxnSpPr/>
          <p:nvPr/>
        </p:nvCxnSpPr>
        <p:spPr>
          <a:xfrm rot="10800000" flipH="1">
            <a:off x="80818" y="6375827"/>
            <a:ext cx="12020954" cy="22573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5" name="Google Shape;135;p16" descr="Teacher">
            <a:extLst>
              <a:ext uri="{FF2B5EF4-FFF2-40B4-BE49-F238E27FC236}">
                <a16:creationId xmlns:a16="http://schemas.microsoft.com/office/drawing/2014/main" id="{A5EDEA69-DAAA-7ED8-F93F-BA184418FC8F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3480" y="80428"/>
            <a:ext cx="827584" cy="82758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90D13DBD-81AD-F38A-D7D2-5F24C25912A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70C0"/>
                </a:solidFill>
              </a:rPr>
              <a:t>Date: 15/04/2026</a:t>
            </a:r>
            <a:endParaRPr sz="1600" b="1" dirty="0">
              <a:solidFill>
                <a:srgbClr val="0070C0"/>
              </a:solidFill>
            </a:endParaRPr>
          </a:p>
        </p:txBody>
      </p:sp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ED0944E4-3A82-EE39-3B2E-D0D43441DAC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sz="16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Google Shape;138;p16">
            <a:extLst>
              <a:ext uri="{FF2B5EF4-FFF2-40B4-BE49-F238E27FC236}">
                <a16:creationId xmlns:a16="http://schemas.microsoft.com/office/drawing/2014/main" id="{AFBC7F86-33CE-2AE5-153A-E952BC8CE1DF}"/>
              </a:ext>
            </a:extLst>
          </p:cNvPr>
          <p:cNvSpPr txBox="1"/>
          <p:nvPr/>
        </p:nvSpPr>
        <p:spPr>
          <a:xfrm>
            <a:off x="80818" y="970156"/>
            <a:ext cx="11985040" cy="5645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Project Developed: Banking System Web Application</a:t>
            </a: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Developed a web-based banking system during the internship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The project allows users to login, register and view accounts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Merriweather" panose="0000050000000000000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open account details, view transaction history and summary</a:t>
            </a: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The system includes transfer money and add transaction interfaces</a:t>
            </a: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No-account page is available for users without account records</a:t>
            </a: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helped me understand full-stack web development</a:t>
            </a:r>
          </a:p>
          <a:p>
            <a:pPr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improved my confidence in Django backend and UI integration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Merriweather" panose="0000050000000000000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dirty="0">
              <a:sym typeface="Merriweather" panose="00000500000000000000"/>
            </a:endParaRPr>
          </a:p>
        </p:txBody>
      </p:sp>
      <p:sp>
        <p:nvSpPr>
          <p:cNvPr id="140" name="Google Shape;140;p16">
            <a:extLst>
              <a:ext uri="{FF2B5EF4-FFF2-40B4-BE49-F238E27FC236}">
                <a16:creationId xmlns:a16="http://schemas.microsoft.com/office/drawing/2014/main" id="{FBD07910-8BF8-7421-ADD6-73CCC56D208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41069" y="6435862"/>
            <a:ext cx="8368882" cy="36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r>
              <a:rPr lang="en-US" sz="1600" i="1" dirty="0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Web Development Intern(entry level)</a:t>
            </a:r>
            <a:endParaRPr lang="en-US" sz="14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807497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8D4F14B1-344A-3003-5CCD-5A5705105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>
            <a:extLst>
              <a:ext uri="{FF2B5EF4-FFF2-40B4-BE49-F238E27FC236}">
                <a16:creationId xmlns:a16="http://schemas.microsoft.com/office/drawing/2014/main" id="{4BFD00BE-653B-C21B-7AAC-B60357736B0C}"/>
              </a:ext>
            </a:extLst>
          </p:cNvPr>
          <p:cNvSpPr txBox="1"/>
          <p:nvPr/>
        </p:nvSpPr>
        <p:spPr>
          <a:xfrm>
            <a:off x="67566" y="-13148"/>
            <a:ext cx="1202095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3939"/>
              </a:buClr>
              <a:buSzPts val="4000"/>
              <a:buFont typeface="Times New Roman" panose="02020603050405020304"/>
              <a:buNone/>
            </a:pPr>
            <a:r>
              <a:rPr lang="en-US" sz="4000" b="1" dirty="0">
                <a:solidFill>
                  <a:srgbClr val="733939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Reflection Notes</a:t>
            </a:r>
            <a:endParaRPr dirty="0"/>
          </a:p>
        </p:txBody>
      </p:sp>
      <p:cxnSp>
        <p:nvCxnSpPr>
          <p:cNvPr id="132" name="Google Shape;132;p16">
            <a:extLst>
              <a:ext uri="{FF2B5EF4-FFF2-40B4-BE49-F238E27FC236}">
                <a16:creationId xmlns:a16="http://schemas.microsoft.com/office/drawing/2014/main" id="{D1E362F1-6D83-4E8F-412E-3C7998B601A2}"/>
              </a:ext>
            </a:extLst>
          </p:cNvPr>
          <p:cNvCxnSpPr/>
          <p:nvPr/>
        </p:nvCxnSpPr>
        <p:spPr>
          <a:xfrm rot="10800000" flipH="1">
            <a:off x="39856" y="66364"/>
            <a:ext cx="12084578" cy="14064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" name="Google Shape;133;p16">
            <a:extLst>
              <a:ext uri="{FF2B5EF4-FFF2-40B4-BE49-F238E27FC236}">
                <a16:creationId xmlns:a16="http://schemas.microsoft.com/office/drawing/2014/main" id="{4CFF741B-6A4F-2EE7-298F-658295023C39}"/>
              </a:ext>
            </a:extLst>
          </p:cNvPr>
          <p:cNvCxnSpPr/>
          <p:nvPr/>
        </p:nvCxnSpPr>
        <p:spPr>
          <a:xfrm rot="10800000" flipH="1">
            <a:off x="39856" y="904564"/>
            <a:ext cx="12048664" cy="14064"/>
          </a:xfrm>
          <a:prstGeom prst="straightConnector1">
            <a:avLst/>
          </a:prstGeom>
          <a:noFill/>
          <a:ln w="1905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" name="Google Shape;134;p16">
            <a:extLst>
              <a:ext uri="{FF2B5EF4-FFF2-40B4-BE49-F238E27FC236}">
                <a16:creationId xmlns:a16="http://schemas.microsoft.com/office/drawing/2014/main" id="{20A8FD76-25B1-74B0-3118-556DD0E7FAF8}"/>
              </a:ext>
            </a:extLst>
          </p:cNvPr>
          <p:cNvCxnSpPr/>
          <p:nvPr/>
        </p:nvCxnSpPr>
        <p:spPr>
          <a:xfrm rot="10800000" flipH="1">
            <a:off x="80818" y="6375827"/>
            <a:ext cx="12020954" cy="22573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5" name="Google Shape;135;p16" descr="Teacher">
            <a:extLst>
              <a:ext uri="{FF2B5EF4-FFF2-40B4-BE49-F238E27FC236}">
                <a16:creationId xmlns:a16="http://schemas.microsoft.com/office/drawing/2014/main" id="{D4361850-8682-E4D8-B330-2A39CEE5619F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3480" y="80428"/>
            <a:ext cx="827584" cy="82758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2D64D305-494D-41AF-9EDB-148327A7344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70C0"/>
                </a:solidFill>
              </a:rPr>
              <a:t>Date: 15/04/2026</a:t>
            </a:r>
            <a:endParaRPr sz="1600" b="1" dirty="0">
              <a:solidFill>
                <a:srgbClr val="0070C0"/>
              </a:solidFill>
            </a:endParaRPr>
          </a:p>
        </p:txBody>
      </p:sp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4D93FC96-EC3E-BA5D-EFE2-DEC79CEB3AC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 sz="16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Google Shape;138;p16">
            <a:extLst>
              <a:ext uri="{FF2B5EF4-FFF2-40B4-BE49-F238E27FC236}">
                <a16:creationId xmlns:a16="http://schemas.microsoft.com/office/drawing/2014/main" id="{FBCEAD41-C77C-0A01-B1FA-D832D892E835}"/>
              </a:ext>
            </a:extLst>
          </p:cNvPr>
          <p:cNvSpPr txBox="1"/>
          <p:nvPr/>
        </p:nvSpPr>
        <p:spPr>
          <a:xfrm>
            <a:off x="80818" y="956090"/>
            <a:ext cx="1198504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endParaRPr sz="2400" b="1" i="0" u="none" strike="noStrike" cap="none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9" name="Google Shape;139;p16">
            <a:extLst>
              <a:ext uri="{FF2B5EF4-FFF2-40B4-BE49-F238E27FC236}">
                <a16:creationId xmlns:a16="http://schemas.microsoft.com/office/drawing/2014/main" id="{A9D16D6C-9C6B-2BF1-E23A-BAE7EB4BF32C}"/>
              </a:ext>
            </a:extLst>
          </p:cNvPr>
          <p:cNvSpPr txBox="1"/>
          <p:nvPr/>
        </p:nvSpPr>
        <p:spPr>
          <a:xfrm>
            <a:off x="103480" y="945473"/>
            <a:ext cx="11948820" cy="5392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 of Project with Output: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Banking System Web Application is designed to provide a secure and user-friendly digital banking experience. It contains modules such as login, registration, account viewing, account details, account summary, transfer money, add transaction, edit account, add account and no-account empty state.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was built using Django for backend routing and logic, SQLite for development database storage, and Stitch/Tailwind templates for the frontend interface. This helped me learn how frontend screens and backend views work together in a real web application.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this project, I gained practical exposure to page routing, form submission, model design, API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Endpoints and debugging frontend-backend integration</a:t>
            </a:r>
          </a:p>
          <a:p>
            <a:pPr algn="just">
              <a:lnSpc>
                <a:spcPct val="150000"/>
              </a:lnSpc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Google Shape;140;p16">
            <a:extLst>
              <a:ext uri="{FF2B5EF4-FFF2-40B4-BE49-F238E27FC236}">
                <a16:creationId xmlns:a16="http://schemas.microsoft.com/office/drawing/2014/main" id="{44AE0FED-8A21-A99A-C848-6E0660C08BD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41069" y="6435862"/>
            <a:ext cx="8368882" cy="36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r>
              <a:rPr lang="en-US" sz="1600" i="1" dirty="0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Web Development Intern(entry level)</a:t>
            </a:r>
            <a:endParaRPr lang="en-US" sz="14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823876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B9B8F97C-8371-B05C-0740-E3138AD5B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>
            <a:extLst>
              <a:ext uri="{FF2B5EF4-FFF2-40B4-BE49-F238E27FC236}">
                <a16:creationId xmlns:a16="http://schemas.microsoft.com/office/drawing/2014/main" id="{1E4ED68C-9D90-9B70-B5AD-204C49926778}"/>
              </a:ext>
            </a:extLst>
          </p:cNvPr>
          <p:cNvSpPr txBox="1"/>
          <p:nvPr/>
        </p:nvSpPr>
        <p:spPr>
          <a:xfrm>
            <a:off x="67566" y="-13148"/>
            <a:ext cx="1202095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3939"/>
              </a:buClr>
              <a:buSzPts val="4000"/>
              <a:buFont typeface="Times New Roman" panose="02020603050405020304"/>
              <a:buNone/>
            </a:pPr>
            <a:r>
              <a:rPr lang="en-US" sz="4000" b="1" dirty="0">
                <a:solidFill>
                  <a:srgbClr val="733939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Reflection Notes</a:t>
            </a:r>
            <a:endParaRPr dirty="0"/>
          </a:p>
        </p:txBody>
      </p:sp>
      <p:cxnSp>
        <p:nvCxnSpPr>
          <p:cNvPr id="132" name="Google Shape;132;p16">
            <a:extLst>
              <a:ext uri="{FF2B5EF4-FFF2-40B4-BE49-F238E27FC236}">
                <a16:creationId xmlns:a16="http://schemas.microsoft.com/office/drawing/2014/main" id="{956D6F58-EB91-C436-ECC7-5F62F9FA4253}"/>
              </a:ext>
            </a:extLst>
          </p:cNvPr>
          <p:cNvCxnSpPr/>
          <p:nvPr/>
        </p:nvCxnSpPr>
        <p:spPr>
          <a:xfrm rot="10800000" flipH="1">
            <a:off x="39856" y="66364"/>
            <a:ext cx="12084578" cy="14064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" name="Google Shape;133;p16">
            <a:extLst>
              <a:ext uri="{FF2B5EF4-FFF2-40B4-BE49-F238E27FC236}">
                <a16:creationId xmlns:a16="http://schemas.microsoft.com/office/drawing/2014/main" id="{74274272-F652-E183-28C5-CEFF896F70BF}"/>
              </a:ext>
            </a:extLst>
          </p:cNvPr>
          <p:cNvCxnSpPr/>
          <p:nvPr/>
        </p:nvCxnSpPr>
        <p:spPr>
          <a:xfrm rot="10800000" flipH="1">
            <a:off x="39856" y="904564"/>
            <a:ext cx="12048664" cy="14064"/>
          </a:xfrm>
          <a:prstGeom prst="straightConnector1">
            <a:avLst/>
          </a:prstGeom>
          <a:noFill/>
          <a:ln w="1905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" name="Google Shape;134;p16">
            <a:extLst>
              <a:ext uri="{FF2B5EF4-FFF2-40B4-BE49-F238E27FC236}">
                <a16:creationId xmlns:a16="http://schemas.microsoft.com/office/drawing/2014/main" id="{EAB1E0D9-2D7B-C651-73AC-B00CE65A581D}"/>
              </a:ext>
            </a:extLst>
          </p:cNvPr>
          <p:cNvCxnSpPr/>
          <p:nvPr/>
        </p:nvCxnSpPr>
        <p:spPr>
          <a:xfrm rot="10800000" flipH="1">
            <a:off x="80818" y="6375827"/>
            <a:ext cx="12020954" cy="22573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5" name="Google Shape;135;p16" descr="Teacher">
            <a:extLst>
              <a:ext uri="{FF2B5EF4-FFF2-40B4-BE49-F238E27FC236}">
                <a16:creationId xmlns:a16="http://schemas.microsoft.com/office/drawing/2014/main" id="{A5EDEA69-DAAA-7ED8-F93F-BA184418FC8F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3480" y="80428"/>
            <a:ext cx="827584" cy="82758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90D13DBD-81AD-F38A-D7D2-5F24C25912A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70C0"/>
                </a:solidFill>
              </a:rPr>
              <a:t>Date: 15/04/2026</a:t>
            </a:r>
            <a:endParaRPr sz="1600" b="1" dirty="0">
              <a:solidFill>
                <a:srgbClr val="0070C0"/>
              </a:solidFill>
            </a:endParaRPr>
          </a:p>
        </p:txBody>
      </p:sp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ED0944E4-3A82-EE39-3B2E-D0D43441DAC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 sz="16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Google Shape;138;p16">
            <a:extLst>
              <a:ext uri="{FF2B5EF4-FFF2-40B4-BE49-F238E27FC236}">
                <a16:creationId xmlns:a16="http://schemas.microsoft.com/office/drawing/2014/main" id="{AFBC7F86-33CE-2AE5-153A-E952BC8CE1DF}"/>
              </a:ext>
            </a:extLst>
          </p:cNvPr>
          <p:cNvSpPr txBox="1"/>
          <p:nvPr/>
        </p:nvSpPr>
        <p:spPr>
          <a:xfrm>
            <a:off x="80818" y="970156"/>
            <a:ext cx="11985040" cy="5645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OBJECTIVES:</a:t>
            </a: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To create a clean login and registration workflow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To allow users to view their bank accounts in a dashboard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Merriweather" panose="0000050000000000000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show account details and transaction history for each account</a:t>
            </a: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To provide pages for adding and editing account information</a:t>
            </a: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transfer money and add transaction workflows</a:t>
            </a: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no-account page for empty account situations</a:t>
            </a:r>
          </a:p>
          <a:p>
            <a:pPr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connect Django backend routes with Stitch frontend templates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practical knowledge of full-stack web development</a:t>
            </a:r>
          </a:p>
          <a:p>
            <a:pPr marL="10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Merriweather" panose="0000050000000000000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dirty="0">
              <a:sym typeface="Merriweather" panose="00000500000000000000"/>
            </a:endParaRPr>
          </a:p>
        </p:txBody>
      </p:sp>
      <p:sp>
        <p:nvSpPr>
          <p:cNvPr id="140" name="Google Shape;140;p16">
            <a:extLst>
              <a:ext uri="{FF2B5EF4-FFF2-40B4-BE49-F238E27FC236}">
                <a16:creationId xmlns:a16="http://schemas.microsoft.com/office/drawing/2014/main" id="{FBD07910-8BF8-7421-ADD6-73CCC56D208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41069" y="6435862"/>
            <a:ext cx="8368882" cy="36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r>
              <a:rPr lang="en-US" sz="1600" i="1" dirty="0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Web Development Intern(entry level)</a:t>
            </a:r>
            <a:endParaRPr lang="en-US" sz="14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807497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B9B8F97C-8371-B05C-0740-E3138AD5B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>
            <a:extLst>
              <a:ext uri="{FF2B5EF4-FFF2-40B4-BE49-F238E27FC236}">
                <a16:creationId xmlns:a16="http://schemas.microsoft.com/office/drawing/2014/main" id="{1E4ED68C-9D90-9B70-B5AD-204C49926778}"/>
              </a:ext>
            </a:extLst>
          </p:cNvPr>
          <p:cNvSpPr txBox="1"/>
          <p:nvPr/>
        </p:nvSpPr>
        <p:spPr>
          <a:xfrm>
            <a:off x="67566" y="-13148"/>
            <a:ext cx="1202095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3939"/>
              </a:buClr>
              <a:buSzPts val="4000"/>
              <a:buFont typeface="Times New Roman" panose="02020603050405020304"/>
              <a:buNone/>
            </a:pPr>
            <a:r>
              <a:rPr lang="en-US" sz="4000" b="1" dirty="0">
                <a:solidFill>
                  <a:srgbClr val="733939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Reflection Notes</a:t>
            </a:r>
            <a:endParaRPr dirty="0"/>
          </a:p>
        </p:txBody>
      </p:sp>
      <p:cxnSp>
        <p:nvCxnSpPr>
          <p:cNvPr id="132" name="Google Shape;132;p16">
            <a:extLst>
              <a:ext uri="{FF2B5EF4-FFF2-40B4-BE49-F238E27FC236}">
                <a16:creationId xmlns:a16="http://schemas.microsoft.com/office/drawing/2014/main" id="{956D6F58-EB91-C436-ECC7-5F62F9FA4253}"/>
              </a:ext>
            </a:extLst>
          </p:cNvPr>
          <p:cNvCxnSpPr/>
          <p:nvPr/>
        </p:nvCxnSpPr>
        <p:spPr>
          <a:xfrm rot="10800000" flipH="1">
            <a:off x="39856" y="66364"/>
            <a:ext cx="12084578" cy="14064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" name="Google Shape;133;p16">
            <a:extLst>
              <a:ext uri="{FF2B5EF4-FFF2-40B4-BE49-F238E27FC236}">
                <a16:creationId xmlns:a16="http://schemas.microsoft.com/office/drawing/2014/main" id="{74274272-F652-E183-28C5-CEFF896F70BF}"/>
              </a:ext>
            </a:extLst>
          </p:cNvPr>
          <p:cNvCxnSpPr/>
          <p:nvPr/>
        </p:nvCxnSpPr>
        <p:spPr>
          <a:xfrm rot="10800000" flipH="1">
            <a:off x="39856" y="904564"/>
            <a:ext cx="12048664" cy="14064"/>
          </a:xfrm>
          <a:prstGeom prst="straightConnector1">
            <a:avLst/>
          </a:prstGeom>
          <a:noFill/>
          <a:ln w="1905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" name="Google Shape;134;p16">
            <a:extLst>
              <a:ext uri="{FF2B5EF4-FFF2-40B4-BE49-F238E27FC236}">
                <a16:creationId xmlns:a16="http://schemas.microsoft.com/office/drawing/2014/main" id="{EAB1E0D9-2D7B-C651-73AC-B00CE65A581D}"/>
              </a:ext>
            </a:extLst>
          </p:cNvPr>
          <p:cNvCxnSpPr/>
          <p:nvPr/>
        </p:nvCxnSpPr>
        <p:spPr>
          <a:xfrm rot="10800000" flipH="1">
            <a:off x="80818" y="6375827"/>
            <a:ext cx="12020954" cy="22573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5" name="Google Shape;135;p16" descr="Teacher">
            <a:extLst>
              <a:ext uri="{FF2B5EF4-FFF2-40B4-BE49-F238E27FC236}">
                <a16:creationId xmlns:a16="http://schemas.microsoft.com/office/drawing/2014/main" id="{A5EDEA69-DAAA-7ED8-F93F-BA184418FC8F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3480" y="80428"/>
            <a:ext cx="827584" cy="82758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90D13DBD-81AD-F38A-D7D2-5F24C25912A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70C0"/>
                </a:solidFill>
              </a:rPr>
              <a:t>Date: 15/04/2026</a:t>
            </a:r>
            <a:endParaRPr sz="1600" b="1" dirty="0">
              <a:solidFill>
                <a:srgbClr val="0070C0"/>
              </a:solidFill>
            </a:endParaRPr>
          </a:p>
        </p:txBody>
      </p:sp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ED0944E4-3A82-EE39-3B2E-D0D43441DAC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 sz="16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Google Shape;138;p16">
            <a:extLst>
              <a:ext uri="{FF2B5EF4-FFF2-40B4-BE49-F238E27FC236}">
                <a16:creationId xmlns:a16="http://schemas.microsoft.com/office/drawing/2014/main" id="{AFBC7F86-33CE-2AE5-153A-E952BC8CE1DF}"/>
              </a:ext>
            </a:extLst>
          </p:cNvPr>
          <p:cNvSpPr txBox="1"/>
          <p:nvPr/>
        </p:nvSpPr>
        <p:spPr>
          <a:xfrm>
            <a:off x="80818" y="970156"/>
            <a:ext cx="11985040" cy="5645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IMPLEMENTATION:</a:t>
            </a: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1. Frontend Development (User Interface):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Built pages using Stitch-generated HTML templates and Tailwind CSS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Merriweather" panose="0000050000000000000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responsive dark-mode UI for banking workflows</a:t>
            </a: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Added buttons, sidebars, back actions, logout actions and pagination</a:t>
            </a: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Backend Development (Django):</a:t>
            </a: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page views for login, dashboard, accounts and transactions</a:t>
            </a:r>
          </a:p>
          <a:p>
            <a:pPr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Mapped clean URLs for each page using Django url patterns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form actions and navigation to backend routes</a:t>
            </a:r>
          </a:p>
          <a:p>
            <a:pPr marL="10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Merriweather" panose="0000050000000000000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dirty="0">
              <a:sym typeface="Merriweather" panose="00000500000000000000"/>
            </a:endParaRPr>
          </a:p>
        </p:txBody>
      </p:sp>
      <p:sp>
        <p:nvSpPr>
          <p:cNvPr id="140" name="Google Shape;140;p16">
            <a:extLst>
              <a:ext uri="{FF2B5EF4-FFF2-40B4-BE49-F238E27FC236}">
                <a16:creationId xmlns:a16="http://schemas.microsoft.com/office/drawing/2014/main" id="{FBD07910-8BF8-7421-ADD6-73CCC56D208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41069" y="6435862"/>
            <a:ext cx="8368882" cy="36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r>
              <a:rPr lang="en-US" sz="1600" i="1" dirty="0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Web Development Intern(entry level)</a:t>
            </a:r>
            <a:endParaRPr lang="en-US" sz="14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807497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B9B8F97C-8371-B05C-0740-E3138AD5B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>
            <a:extLst>
              <a:ext uri="{FF2B5EF4-FFF2-40B4-BE49-F238E27FC236}">
                <a16:creationId xmlns:a16="http://schemas.microsoft.com/office/drawing/2014/main" id="{1E4ED68C-9D90-9B70-B5AD-204C49926778}"/>
              </a:ext>
            </a:extLst>
          </p:cNvPr>
          <p:cNvSpPr txBox="1"/>
          <p:nvPr/>
        </p:nvSpPr>
        <p:spPr>
          <a:xfrm>
            <a:off x="67566" y="-13148"/>
            <a:ext cx="1202095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3939"/>
              </a:buClr>
              <a:buSzPts val="4000"/>
              <a:buFont typeface="Times New Roman" panose="02020603050405020304"/>
              <a:buNone/>
            </a:pPr>
            <a:r>
              <a:rPr lang="en-US" sz="4000" b="1" dirty="0">
                <a:solidFill>
                  <a:srgbClr val="733939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Reflection Notes</a:t>
            </a:r>
            <a:endParaRPr dirty="0"/>
          </a:p>
        </p:txBody>
      </p:sp>
      <p:cxnSp>
        <p:nvCxnSpPr>
          <p:cNvPr id="132" name="Google Shape;132;p16">
            <a:extLst>
              <a:ext uri="{FF2B5EF4-FFF2-40B4-BE49-F238E27FC236}">
                <a16:creationId xmlns:a16="http://schemas.microsoft.com/office/drawing/2014/main" id="{956D6F58-EB91-C436-ECC7-5F62F9FA4253}"/>
              </a:ext>
            </a:extLst>
          </p:cNvPr>
          <p:cNvCxnSpPr/>
          <p:nvPr/>
        </p:nvCxnSpPr>
        <p:spPr>
          <a:xfrm rot="10800000" flipH="1">
            <a:off x="39856" y="66364"/>
            <a:ext cx="12084578" cy="14064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" name="Google Shape;133;p16">
            <a:extLst>
              <a:ext uri="{FF2B5EF4-FFF2-40B4-BE49-F238E27FC236}">
                <a16:creationId xmlns:a16="http://schemas.microsoft.com/office/drawing/2014/main" id="{74274272-F652-E183-28C5-CEFF896F70BF}"/>
              </a:ext>
            </a:extLst>
          </p:cNvPr>
          <p:cNvCxnSpPr/>
          <p:nvPr/>
        </p:nvCxnSpPr>
        <p:spPr>
          <a:xfrm rot="10800000" flipH="1">
            <a:off x="39856" y="904564"/>
            <a:ext cx="12048664" cy="14064"/>
          </a:xfrm>
          <a:prstGeom prst="straightConnector1">
            <a:avLst/>
          </a:prstGeom>
          <a:noFill/>
          <a:ln w="1905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" name="Google Shape;134;p16">
            <a:extLst>
              <a:ext uri="{FF2B5EF4-FFF2-40B4-BE49-F238E27FC236}">
                <a16:creationId xmlns:a16="http://schemas.microsoft.com/office/drawing/2014/main" id="{EAB1E0D9-2D7B-C651-73AC-B00CE65A581D}"/>
              </a:ext>
            </a:extLst>
          </p:cNvPr>
          <p:cNvCxnSpPr/>
          <p:nvPr/>
        </p:nvCxnSpPr>
        <p:spPr>
          <a:xfrm rot="10800000" flipH="1">
            <a:off x="80818" y="6375827"/>
            <a:ext cx="12020954" cy="22573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5" name="Google Shape;135;p16" descr="Teacher">
            <a:extLst>
              <a:ext uri="{FF2B5EF4-FFF2-40B4-BE49-F238E27FC236}">
                <a16:creationId xmlns:a16="http://schemas.microsoft.com/office/drawing/2014/main" id="{A5EDEA69-DAAA-7ED8-F93F-BA184418FC8F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3480" y="80428"/>
            <a:ext cx="827584" cy="82758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90D13DBD-81AD-F38A-D7D2-5F24C25912A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70C0"/>
                </a:solidFill>
              </a:rPr>
              <a:t>Date: 15/04/2026</a:t>
            </a:r>
            <a:endParaRPr sz="1600" b="1" dirty="0">
              <a:solidFill>
                <a:srgbClr val="0070C0"/>
              </a:solidFill>
            </a:endParaRPr>
          </a:p>
        </p:txBody>
      </p:sp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ED0944E4-3A82-EE39-3B2E-D0D43441DAC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US" sz="16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Google Shape;138;p16">
            <a:extLst>
              <a:ext uri="{FF2B5EF4-FFF2-40B4-BE49-F238E27FC236}">
                <a16:creationId xmlns:a16="http://schemas.microsoft.com/office/drawing/2014/main" id="{AFBC7F86-33CE-2AE5-153A-E952BC8CE1DF}"/>
              </a:ext>
            </a:extLst>
          </p:cNvPr>
          <p:cNvSpPr txBox="1"/>
          <p:nvPr/>
        </p:nvSpPr>
        <p:spPr>
          <a:xfrm>
            <a:off x="80818" y="970156"/>
            <a:ext cx="11985040" cy="5645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3. Database Setup:</a:t>
            </a: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Used SQLite during development for storing application data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Designed custom User, BankAccount and Transaction models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Merriweather" panose="0000050000000000000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bank accounts to users using Django foreign key relationship</a:t>
            </a: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4. API and Banking Logic:</a:t>
            </a: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REST API endpoints using Django REST Framework</a:t>
            </a: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logic for deposit, withdraw, transfer and transaction history</a:t>
            </a:r>
          </a:p>
          <a:p>
            <a:pPr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Testing and Debugging: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Debugged wrong redirects, broken buttons and pagination issues</a:t>
            </a:r>
          </a:p>
          <a:p>
            <a:pPr marL="10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Merriweather" panose="0000050000000000000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dirty="0">
              <a:sym typeface="Merriweather" panose="00000500000000000000"/>
            </a:endParaRPr>
          </a:p>
        </p:txBody>
      </p:sp>
      <p:sp>
        <p:nvSpPr>
          <p:cNvPr id="140" name="Google Shape;140;p16">
            <a:extLst>
              <a:ext uri="{FF2B5EF4-FFF2-40B4-BE49-F238E27FC236}">
                <a16:creationId xmlns:a16="http://schemas.microsoft.com/office/drawing/2014/main" id="{FBD07910-8BF8-7421-ADD6-73CCC56D208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41069" y="6435862"/>
            <a:ext cx="8368882" cy="36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r>
              <a:rPr lang="en-US" sz="1600" i="1" dirty="0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Web Development Intern(entry level)</a:t>
            </a:r>
            <a:endParaRPr lang="en-US" sz="14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8074972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B9B8F97C-8371-B05C-0740-E3138AD5B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>
            <a:extLst>
              <a:ext uri="{FF2B5EF4-FFF2-40B4-BE49-F238E27FC236}">
                <a16:creationId xmlns:a16="http://schemas.microsoft.com/office/drawing/2014/main" id="{1E4ED68C-9D90-9B70-B5AD-204C49926778}"/>
              </a:ext>
            </a:extLst>
          </p:cNvPr>
          <p:cNvSpPr txBox="1"/>
          <p:nvPr/>
        </p:nvSpPr>
        <p:spPr>
          <a:xfrm>
            <a:off x="67566" y="-13148"/>
            <a:ext cx="1202095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3939"/>
              </a:buClr>
              <a:buSzPts val="4000"/>
              <a:buFont typeface="Times New Roman" panose="02020603050405020304"/>
              <a:buNone/>
            </a:pPr>
            <a:r>
              <a:rPr lang="en-US" sz="4000" b="1" dirty="0">
                <a:solidFill>
                  <a:srgbClr val="733939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Output</a:t>
            </a:r>
            <a:endParaRPr dirty="0"/>
          </a:p>
        </p:txBody>
      </p:sp>
      <p:cxnSp>
        <p:nvCxnSpPr>
          <p:cNvPr id="132" name="Google Shape;132;p16">
            <a:extLst>
              <a:ext uri="{FF2B5EF4-FFF2-40B4-BE49-F238E27FC236}">
                <a16:creationId xmlns:a16="http://schemas.microsoft.com/office/drawing/2014/main" id="{956D6F58-EB91-C436-ECC7-5F62F9FA4253}"/>
              </a:ext>
            </a:extLst>
          </p:cNvPr>
          <p:cNvCxnSpPr/>
          <p:nvPr/>
        </p:nvCxnSpPr>
        <p:spPr>
          <a:xfrm rot="10800000" flipH="1">
            <a:off x="39856" y="66364"/>
            <a:ext cx="12084578" cy="14064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" name="Google Shape;133;p16">
            <a:extLst>
              <a:ext uri="{FF2B5EF4-FFF2-40B4-BE49-F238E27FC236}">
                <a16:creationId xmlns:a16="http://schemas.microsoft.com/office/drawing/2014/main" id="{74274272-F652-E183-28C5-CEFF896F70BF}"/>
              </a:ext>
            </a:extLst>
          </p:cNvPr>
          <p:cNvCxnSpPr/>
          <p:nvPr/>
        </p:nvCxnSpPr>
        <p:spPr>
          <a:xfrm rot="10800000" flipH="1">
            <a:off x="39856" y="904564"/>
            <a:ext cx="12048664" cy="14064"/>
          </a:xfrm>
          <a:prstGeom prst="straightConnector1">
            <a:avLst/>
          </a:prstGeom>
          <a:noFill/>
          <a:ln w="1905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" name="Google Shape;134;p16">
            <a:extLst>
              <a:ext uri="{FF2B5EF4-FFF2-40B4-BE49-F238E27FC236}">
                <a16:creationId xmlns:a16="http://schemas.microsoft.com/office/drawing/2014/main" id="{EAB1E0D9-2D7B-C651-73AC-B00CE65A581D}"/>
              </a:ext>
            </a:extLst>
          </p:cNvPr>
          <p:cNvCxnSpPr/>
          <p:nvPr/>
        </p:nvCxnSpPr>
        <p:spPr>
          <a:xfrm rot="10800000" flipH="1">
            <a:off x="80818" y="6375827"/>
            <a:ext cx="12020954" cy="22573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5" name="Google Shape;135;p16" descr="Teacher">
            <a:extLst>
              <a:ext uri="{FF2B5EF4-FFF2-40B4-BE49-F238E27FC236}">
                <a16:creationId xmlns:a16="http://schemas.microsoft.com/office/drawing/2014/main" id="{A5EDEA69-DAAA-7ED8-F93F-BA184418FC8F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3480" y="80428"/>
            <a:ext cx="827584" cy="82758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90D13DBD-81AD-F38A-D7D2-5F24C25912A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70C0"/>
                </a:solidFill>
              </a:rPr>
              <a:t>Date: 15/04/2026</a:t>
            </a:r>
            <a:endParaRPr sz="1600" b="1" dirty="0">
              <a:solidFill>
                <a:srgbClr val="0070C0"/>
              </a:solidFill>
            </a:endParaRPr>
          </a:p>
        </p:txBody>
      </p:sp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ED0944E4-3A82-EE39-3B2E-D0D43441DAC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en-US" sz="16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Google Shape;138;p16">
            <a:extLst>
              <a:ext uri="{FF2B5EF4-FFF2-40B4-BE49-F238E27FC236}">
                <a16:creationId xmlns:a16="http://schemas.microsoft.com/office/drawing/2014/main" id="{AFBC7F86-33CE-2AE5-153A-E952BC8CE1DF}"/>
              </a:ext>
            </a:extLst>
          </p:cNvPr>
          <p:cNvSpPr txBox="1"/>
          <p:nvPr/>
        </p:nvSpPr>
        <p:spPr>
          <a:xfrm>
            <a:off x="80818" y="970156"/>
            <a:ext cx="11985040" cy="5645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Snapshot 1: Login Page</a:t>
            </a: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User can enter registered phone number and password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Successful login opens the dashboard/account view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Merriweather" panose="0000050000000000000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Merriweather" panose="0000050000000000000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dirty="0">
              <a:sym typeface="Merriweather" panose="00000500000000000000"/>
            </a:endParaRPr>
          </a:p>
        </p:txBody>
      </p:sp>
      <p:sp>
        <p:nvSpPr>
          <p:cNvPr id="140" name="Google Shape;140;p16">
            <a:extLst>
              <a:ext uri="{FF2B5EF4-FFF2-40B4-BE49-F238E27FC236}">
                <a16:creationId xmlns:a16="http://schemas.microsoft.com/office/drawing/2014/main" id="{FBD07910-8BF8-7421-ADD6-73CCC56D208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41069" y="6435862"/>
            <a:ext cx="8368882" cy="36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r>
              <a:rPr lang="en-US" sz="1600" i="1" dirty="0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Web Development Intern(entry level)</a:t>
            </a:r>
            <a:endParaRPr lang="en-US" sz="14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807497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B9B8F97C-8371-B05C-0740-E3138AD5B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>
            <a:extLst>
              <a:ext uri="{FF2B5EF4-FFF2-40B4-BE49-F238E27FC236}">
                <a16:creationId xmlns:a16="http://schemas.microsoft.com/office/drawing/2014/main" id="{1E4ED68C-9D90-9B70-B5AD-204C49926778}"/>
              </a:ext>
            </a:extLst>
          </p:cNvPr>
          <p:cNvSpPr txBox="1"/>
          <p:nvPr/>
        </p:nvSpPr>
        <p:spPr>
          <a:xfrm>
            <a:off x="67566" y="-13148"/>
            <a:ext cx="1202095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3939"/>
              </a:buClr>
              <a:buSzPts val="4000"/>
              <a:buFont typeface="Times New Roman" panose="02020603050405020304"/>
              <a:buNone/>
            </a:pPr>
            <a:r>
              <a:rPr lang="en-US" sz="4000" b="1" dirty="0">
                <a:solidFill>
                  <a:srgbClr val="733939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Output</a:t>
            </a:r>
            <a:endParaRPr dirty="0"/>
          </a:p>
        </p:txBody>
      </p:sp>
      <p:cxnSp>
        <p:nvCxnSpPr>
          <p:cNvPr id="132" name="Google Shape;132;p16">
            <a:extLst>
              <a:ext uri="{FF2B5EF4-FFF2-40B4-BE49-F238E27FC236}">
                <a16:creationId xmlns:a16="http://schemas.microsoft.com/office/drawing/2014/main" id="{956D6F58-EB91-C436-ECC7-5F62F9FA4253}"/>
              </a:ext>
            </a:extLst>
          </p:cNvPr>
          <p:cNvCxnSpPr/>
          <p:nvPr/>
        </p:nvCxnSpPr>
        <p:spPr>
          <a:xfrm rot="10800000" flipH="1">
            <a:off x="39856" y="66364"/>
            <a:ext cx="12084578" cy="14064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" name="Google Shape;133;p16">
            <a:extLst>
              <a:ext uri="{FF2B5EF4-FFF2-40B4-BE49-F238E27FC236}">
                <a16:creationId xmlns:a16="http://schemas.microsoft.com/office/drawing/2014/main" id="{74274272-F652-E183-28C5-CEFF896F70BF}"/>
              </a:ext>
            </a:extLst>
          </p:cNvPr>
          <p:cNvCxnSpPr/>
          <p:nvPr/>
        </p:nvCxnSpPr>
        <p:spPr>
          <a:xfrm rot="10800000" flipH="1">
            <a:off x="39856" y="904564"/>
            <a:ext cx="12048664" cy="14064"/>
          </a:xfrm>
          <a:prstGeom prst="straightConnector1">
            <a:avLst/>
          </a:prstGeom>
          <a:noFill/>
          <a:ln w="1905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" name="Google Shape;134;p16">
            <a:extLst>
              <a:ext uri="{FF2B5EF4-FFF2-40B4-BE49-F238E27FC236}">
                <a16:creationId xmlns:a16="http://schemas.microsoft.com/office/drawing/2014/main" id="{EAB1E0D9-2D7B-C651-73AC-B00CE65A581D}"/>
              </a:ext>
            </a:extLst>
          </p:cNvPr>
          <p:cNvCxnSpPr/>
          <p:nvPr/>
        </p:nvCxnSpPr>
        <p:spPr>
          <a:xfrm rot="10800000" flipH="1">
            <a:off x="80818" y="6375827"/>
            <a:ext cx="12020954" cy="22573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5" name="Google Shape;135;p16" descr="Teacher">
            <a:extLst>
              <a:ext uri="{FF2B5EF4-FFF2-40B4-BE49-F238E27FC236}">
                <a16:creationId xmlns:a16="http://schemas.microsoft.com/office/drawing/2014/main" id="{A5EDEA69-DAAA-7ED8-F93F-BA184418FC8F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3480" y="80428"/>
            <a:ext cx="827584" cy="82758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90D13DBD-81AD-F38A-D7D2-5F24C25912A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70C0"/>
                </a:solidFill>
              </a:rPr>
              <a:t>Date: 15/04/2026</a:t>
            </a:r>
            <a:endParaRPr sz="1600" b="1" dirty="0">
              <a:solidFill>
                <a:srgbClr val="0070C0"/>
              </a:solidFill>
            </a:endParaRPr>
          </a:p>
        </p:txBody>
      </p:sp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ED0944E4-3A82-EE39-3B2E-D0D43441DAC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US" sz="16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Google Shape;138;p16">
            <a:extLst>
              <a:ext uri="{FF2B5EF4-FFF2-40B4-BE49-F238E27FC236}">
                <a16:creationId xmlns:a16="http://schemas.microsoft.com/office/drawing/2014/main" id="{AFBC7F86-33CE-2AE5-153A-E952BC8CE1DF}"/>
              </a:ext>
            </a:extLst>
          </p:cNvPr>
          <p:cNvSpPr txBox="1"/>
          <p:nvPr/>
        </p:nvSpPr>
        <p:spPr>
          <a:xfrm>
            <a:off x="80818" y="970156"/>
            <a:ext cx="11985040" cy="5645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Snapshot 2: View Accounts Page</a:t>
            </a: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Displays account cards with account type, balance and details button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Clicking any account card opens account details page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Merriweather" panose="0000050000000000000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Merriweather" panose="0000050000000000000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dirty="0">
              <a:sym typeface="Merriweather" panose="00000500000000000000"/>
            </a:endParaRPr>
          </a:p>
        </p:txBody>
      </p:sp>
      <p:sp>
        <p:nvSpPr>
          <p:cNvPr id="140" name="Google Shape;140;p16">
            <a:extLst>
              <a:ext uri="{FF2B5EF4-FFF2-40B4-BE49-F238E27FC236}">
                <a16:creationId xmlns:a16="http://schemas.microsoft.com/office/drawing/2014/main" id="{FBD07910-8BF8-7421-ADD6-73CCC56D208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41069" y="6435862"/>
            <a:ext cx="8368882" cy="36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r>
              <a:rPr lang="en-US" sz="1600" i="1" dirty="0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Web Development Intern(entry level)</a:t>
            </a:r>
            <a:endParaRPr lang="en-US" sz="14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8074972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B9B8F97C-8371-B05C-0740-E3138AD5B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>
            <a:extLst>
              <a:ext uri="{FF2B5EF4-FFF2-40B4-BE49-F238E27FC236}">
                <a16:creationId xmlns:a16="http://schemas.microsoft.com/office/drawing/2014/main" id="{1E4ED68C-9D90-9B70-B5AD-204C49926778}"/>
              </a:ext>
            </a:extLst>
          </p:cNvPr>
          <p:cNvSpPr txBox="1"/>
          <p:nvPr/>
        </p:nvSpPr>
        <p:spPr>
          <a:xfrm>
            <a:off x="67566" y="-13148"/>
            <a:ext cx="1202095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3939"/>
              </a:buClr>
              <a:buSzPts val="4000"/>
              <a:buFont typeface="Times New Roman" panose="02020603050405020304"/>
              <a:buNone/>
            </a:pPr>
            <a:r>
              <a:rPr lang="en-US" sz="4000" b="1" dirty="0">
                <a:solidFill>
                  <a:srgbClr val="733939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Output</a:t>
            </a:r>
            <a:endParaRPr dirty="0"/>
          </a:p>
        </p:txBody>
      </p:sp>
      <p:cxnSp>
        <p:nvCxnSpPr>
          <p:cNvPr id="132" name="Google Shape;132;p16">
            <a:extLst>
              <a:ext uri="{FF2B5EF4-FFF2-40B4-BE49-F238E27FC236}">
                <a16:creationId xmlns:a16="http://schemas.microsoft.com/office/drawing/2014/main" id="{956D6F58-EB91-C436-ECC7-5F62F9FA4253}"/>
              </a:ext>
            </a:extLst>
          </p:cNvPr>
          <p:cNvCxnSpPr/>
          <p:nvPr/>
        </p:nvCxnSpPr>
        <p:spPr>
          <a:xfrm rot="10800000" flipH="1">
            <a:off x="39856" y="66364"/>
            <a:ext cx="12084578" cy="14064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" name="Google Shape;133;p16">
            <a:extLst>
              <a:ext uri="{FF2B5EF4-FFF2-40B4-BE49-F238E27FC236}">
                <a16:creationId xmlns:a16="http://schemas.microsoft.com/office/drawing/2014/main" id="{74274272-F652-E183-28C5-CEFF896F70BF}"/>
              </a:ext>
            </a:extLst>
          </p:cNvPr>
          <p:cNvCxnSpPr/>
          <p:nvPr/>
        </p:nvCxnSpPr>
        <p:spPr>
          <a:xfrm rot="10800000" flipH="1">
            <a:off x="39856" y="904564"/>
            <a:ext cx="12048664" cy="14064"/>
          </a:xfrm>
          <a:prstGeom prst="straightConnector1">
            <a:avLst/>
          </a:prstGeom>
          <a:noFill/>
          <a:ln w="1905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" name="Google Shape;134;p16">
            <a:extLst>
              <a:ext uri="{FF2B5EF4-FFF2-40B4-BE49-F238E27FC236}">
                <a16:creationId xmlns:a16="http://schemas.microsoft.com/office/drawing/2014/main" id="{EAB1E0D9-2D7B-C651-73AC-B00CE65A581D}"/>
              </a:ext>
            </a:extLst>
          </p:cNvPr>
          <p:cNvCxnSpPr/>
          <p:nvPr/>
        </p:nvCxnSpPr>
        <p:spPr>
          <a:xfrm rot="10800000" flipH="1">
            <a:off x="80818" y="6375827"/>
            <a:ext cx="12020954" cy="22573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5" name="Google Shape;135;p16" descr="Teacher">
            <a:extLst>
              <a:ext uri="{FF2B5EF4-FFF2-40B4-BE49-F238E27FC236}">
                <a16:creationId xmlns:a16="http://schemas.microsoft.com/office/drawing/2014/main" id="{A5EDEA69-DAAA-7ED8-F93F-BA184418FC8F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3480" y="80428"/>
            <a:ext cx="827584" cy="82758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90D13DBD-81AD-F38A-D7D2-5F24C25912A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70C0"/>
                </a:solidFill>
              </a:rPr>
              <a:t>Date: 15/04/2026</a:t>
            </a:r>
            <a:endParaRPr sz="1600" b="1" dirty="0">
              <a:solidFill>
                <a:srgbClr val="0070C0"/>
              </a:solidFill>
            </a:endParaRPr>
          </a:p>
        </p:txBody>
      </p:sp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ED0944E4-3A82-EE39-3B2E-D0D43441DAC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US" sz="16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Google Shape;138;p16">
            <a:extLst>
              <a:ext uri="{FF2B5EF4-FFF2-40B4-BE49-F238E27FC236}">
                <a16:creationId xmlns:a16="http://schemas.microsoft.com/office/drawing/2014/main" id="{AFBC7F86-33CE-2AE5-153A-E952BC8CE1DF}"/>
              </a:ext>
            </a:extLst>
          </p:cNvPr>
          <p:cNvSpPr txBox="1"/>
          <p:nvPr/>
        </p:nvSpPr>
        <p:spPr>
          <a:xfrm>
            <a:off x="80818" y="970156"/>
            <a:ext cx="11985040" cy="5645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Snapshot 3: Account Details Page</a:t>
            </a: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Shows balance, account number, account type and transaction history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Includes Add Transaction button and working transaction pagination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Merriweather" panose="0000050000000000000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Merriweather" panose="0000050000000000000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dirty="0">
              <a:sym typeface="Merriweather" panose="00000500000000000000"/>
            </a:endParaRPr>
          </a:p>
        </p:txBody>
      </p:sp>
      <p:sp>
        <p:nvSpPr>
          <p:cNvPr id="140" name="Google Shape;140;p16">
            <a:extLst>
              <a:ext uri="{FF2B5EF4-FFF2-40B4-BE49-F238E27FC236}">
                <a16:creationId xmlns:a16="http://schemas.microsoft.com/office/drawing/2014/main" id="{FBD07910-8BF8-7421-ADD6-73CCC56D208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41069" y="6435862"/>
            <a:ext cx="8368882" cy="36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r>
              <a:rPr lang="en-US" sz="1600" i="1" dirty="0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Web Development Intern(entry level)</a:t>
            </a:r>
            <a:endParaRPr lang="en-US" sz="14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8074972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B9B8F97C-8371-B05C-0740-E3138AD5B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>
            <a:extLst>
              <a:ext uri="{FF2B5EF4-FFF2-40B4-BE49-F238E27FC236}">
                <a16:creationId xmlns:a16="http://schemas.microsoft.com/office/drawing/2014/main" id="{1E4ED68C-9D90-9B70-B5AD-204C49926778}"/>
              </a:ext>
            </a:extLst>
          </p:cNvPr>
          <p:cNvSpPr txBox="1"/>
          <p:nvPr/>
        </p:nvSpPr>
        <p:spPr>
          <a:xfrm>
            <a:off x="67566" y="-13148"/>
            <a:ext cx="1202095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3939"/>
              </a:buClr>
              <a:buSzPts val="4000"/>
              <a:buFont typeface="Times New Roman" panose="02020603050405020304"/>
              <a:buNone/>
            </a:pPr>
            <a:r>
              <a:rPr lang="en-US" sz="4000" b="1" dirty="0">
                <a:solidFill>
                  <a:srgbClr val="733939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Output</a:t>
            </a:r>
            <a:endParaRPr dirty="0"/>
          </a:p>
        </p:txBody>
      </p:sp>
      <p:cxnSp>
        <p:nvCxnSpPr>
          <p:cNvPr id="132" name="Google Shape;132;p16">
            <a:extLst>
              <a:ext uri="{FF2B5EF4-FFF2-40B4-BE49-F238E27FC236}">
                <a16:creationId xmlns:a16="http://schemas.microsoft.com/office/drawing/2014/main" id="{956D6F58-EB91-C436-ECC7-5F62F9FA4253}"/>
              </a:ext>
            </a:extLst>
          </p:cNvPr>
          <p:cNvCxnSpPr/>
          <p:nvPr/>
        </p:nvCxnSpPr>
        <p:spPr>
          <a:xfrm rot="10800000" flipH="1">
            <a:off x="39856" y="66364"/>
            <a:ext cx="12084578" cy="14064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" name="Google Shape;133;p16">
            <a:extLst>
              <a:ext uri="{FF2B5EF4-FFF2-40B4-BE49-F238E27FC236}">
                <a16:creationId xmlns:a16="http://schemas.microsoft.com/office/drawing/2014/main" id="{74274272-F652-E183-28C5-CEFF896F70BF}"/>
              </a:ext>
            </a:extLst>
          </p:cNvPr>
          <p:cNvCxnSpPr/>
          <p:nvPr/>
        </p:nvCxnSpPr>
        <p:spPr>
          <a:xfrm rot="10800000" flipH="1">
            <a:off x="39856" y="904564"/>
            <a:ext cx="12048664" cy="14064"/>
          </a:xfrm>
          <a:prstGeom prst="straightConnector1">
            <a:avLst/>
          </a:prstGeom>
          <a:noFill/>
          <a:ln w="1905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" name="Google Shape;134;p16">
            <a:extLst>
              <a:ext uri="{FF2B5EF4-FFF2-40B4-BE49-F238E27FC236}">
                <a16:creationId xmlns:a16="http://schemas.microsoft.com/office/drawing/2014/main" id="{EAB1E0D9-2D7B-C651-73AC-B00CE65A581D}"/>
              </a:ext>
            </a:extLst>
          </p:cNvPr>
          <p:cNvCxnSpPr/>
          <p:nvPr/>
        </p:nvCxnSpPr>
        <p:spPr>
          <a:xfrm rot="10800000" flipH="1">
            <a:off x="80818" y="6375827"/>
            <a:ext cx="12020954" cy="22573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5" name="Google Shape;135;p16" descr="Teacher">
            <a:extLst>
              <a:ext uri="{FF2B5EF4-FFF2-40B4-BE49-F238E27FC236}">
                <a16:creationId xmlns:a16="http://schemas.microsoft.com/office/drawing/2014/main" id="{A5EDEA69-DAAA-7ED8-F93F-BA184418FC8F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3480" y="80428"/>
            <a:ext cx="827584" cy="82758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90D13DBD-81AD-F38A-D7D2-5F24C25912A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70C0"/>
                </a:solidFill>
              </a:rPr>
              <a:t>Date: 15/04/2026</a:t>
            </a:r>
            <a:endParaRPr sz="1600" b="1" dirty="0">
              <a:solidFill>
                <a:srgbClr val="0070C0"/>
              </a:solidFill>
            </a:endParaRPr>
          </a:p>
        </p:txBody>
      </p:sp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ED0944E4-3A82-EE39-3B2E-D0D43441DAC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US" sz="16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Google Shape;138;p16">
            <a:extLst>
              <a:ext uri="{FF2B5EF4-FFF2-40B4-BE49-F238E27FC236}">
                <a16:creationId xmlns:a16="http://schemas.microsoft.com/office/drawing/2014/main" id="{AFBC7F86-33CE-2AE5-153A-E952BC8CE1DF}"/>
              </a:ext>
            </a:extLst>
          </p:cNvPr>
          <p:cNvSpPr txBox="1"/>
          <p:nvPr/>
        </p:nvSpPr>
        <p:spPr>
          <a:xfrm>
            <a:off x="80818" y="970156"/>
            <a:ext cx="11985040" cy="5645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Snapshot 4: Add Account and Edit Account Pages</a:t>
            </a: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Add Account page collects account details and initial balance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Edit Account page allows updating account preferences/details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Merriweather" panose="0000050000000000000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Merriweather" panose="0000050000000000000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dirty="0">
              <a:sym typeface="Merriweather" panose="00000500000000000000"/>
            </a:endParaRPr>
          </a:p>
        </p:txBody>
      </p:sp>
      <p:sp>
        <p:nvSpPr>
          <p:cNvPr id="140" name="Google Shape;140;p16">
            <a:extLst>
              <a:ext uri="{FF2B5EF4-FFF2-40B4-BE49-F238E27FC236}">
                <a16:creationId xmlns:a16="http://schemas.microsoft.com/office/drawing/2014/main" id="{FBD07910-8BF8-7421-ADD6-73CCC56D208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41069" y="6435862"/>
            <a:ext cx="8368882" cy="36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r>
              <a:rPr lang="en-US" sz="1600" i="1" dirty="0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Web Development Intern(entry level)</a:t>
            </a:r>
            <a:endParaRPr lang="en-US" sz="14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8074972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B9B8F97C-8371-B05C-0740-E3138AD5B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>
            <a:extLst>
              <a:ext uri="{FF2B5EF4-FFF2-40B4-BE49-F238E27FC236}">
                <a16:creationId xmlns:a16="http://schemas.microsoft.com/office/drawing/2014/main" id="{1E4ED68C-9D90-9B70-B5AD-204C49926778}"/>
              </a:ext>
            </a:extLst>
          </p:cNvPr>
          <p:cNvSpPr txBox="1"/>
          <p:nvPr/>
        </p:nvSpPr>
        <p:spPr>
          <a:xfrm>
            <a:off x="67566" y="-13148"/>
            <a:ext cx="1202095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3939"/>
              </a:buClr>
              <a:buSzPts val="4000"/>
              <a:buFont typeface="Times New Roman" panose="02020603050405020304"/>
              <a:buNone/>
            </a:pPr>
            <a:r>
              <a:rPr lang="en-US" sz="4000" b="1" dirty="0">
                <a:solidFill>
                  <a:srgbClr val="733939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Output</a:t>
            </a:r>
            <a:endParaRPr dirty="0"/>
          </a:p>
        </p:txBody>
      </p:sp>
      <p:cxnSp>
        <p:nvCxnSpPr>
          <p:cNvPr id="132" name="Google Shape;132;p16">
            <a:extLst>
              <a:ext uri="{FF2B5EF4-FFF2-40B4-BE49-F238E27FC236}">
                <a16:creationId xmlns:a16="http://schemas.microsoft.com/office/drawing/2014/main" id="{956D6F58-EB91-C436-ECC7-5F62F9FA4253}"/>
              </a:ext>
            </a:extLst>
          </p:cNvPr>
          <p:cNvCxnSpPr/>
          <p:nvPr/>
        </p:nvCxnSpPr>
        <p:spPr>
          <a:xfrm rot="10800000" flipH="1">
            <a:off x="39856" y="66364"/>
            <a:ext cx="12084578" cy="14064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" name="Google Shape;133;p16">
            <a:extLst>
              <a:ext uri="{FF2B5EF4-FFF2-40B4-BE49-F238E27FC236}">
                <a16:creationId xmlns:a16="http://schemas.microsoft.com/office/drawing/2014/main" id="{74274272-F652-E183-28C5-CEFF896F70BF}"/>
              </a:ext>
            </a:extLst>
          </p:cNvPr>
          <p:cNvCxnSpPr/>
          <p:nvPr/>
        </p:nvCxnSpPr>
        <p:spPr>
          <a:xfrm rot="10800000" flipH="1">
            <a:off x="39856" y="904564"/>
            <a:ext cx="12048664" cy="14064"/>
          </a:xfrm>
          <a:prstGeom prst="straightConnector1">
            <a:avLst/>
          </a:prstGeom>
          <a:noFill/>
          <a:ln w="1905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" name="Google Shape;134;p16">
            <a:extLst>
              <a:ext uri="{FF2B5EF4-FFF2-40B4-BE49-F238E27FC236}">
                <a16:creationId xmlns:a16="http://schemas.microsoft.com/office/drawing/2014/main" id="{EAB1E0D9-2D7B-C651-73AC-B00CE65A581D}"/>
              </a:ext>
            </a:extLst>
          </p:cNvPr>
          <p:cNvCxnSpPr/>
          <p:nvPr/>
        </p:nvCxnSpPr>
        <p:spPr>
          <a:xfrm rot="10800000" flipH="1">
            <a:off x="80818" y="6375827"/>
            <a:ext cx="12020954" cy="22573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5" name="Google Shape;135;p16" descr="Teacher">
            <a:extLst>
              <a:ext uri="{FF2B5EF4-FFF2-40B4-BE49-F238E27FC236}">
                <a16:creationId xmlns:a16="http://schemas.microsoft.com/office/drawing/2014/main" id="{A5EDEA69-DAAA-7ED8-F93F-BA184418FC8F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3480" y="80428"/>
            <a:ext cx="827584" cy="82758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90D13DBD-81AD-F38A-D7D2-5F24C25912A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70C0"/>
                </a:solidFill>
              </a:rPr>
              <a:t>Date: 15/04/2026</a:t>
            </a:r>
            <a:endParaRPr sz="1600" b="1" dirty="0">
              <a:solidFill>
                <a:srgbClr val="0070C0"/>
              </a:solidFill>
            </a:endParaRPr>
          </a:p>
        </p:txBody>
      </p:sp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ED0944E4-3A82-EE39-3B2E-D0D43441DAC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en-US" sz="16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Google Shape;138;p16">
            <a:extLst>
              <a:ext uri="{FF2B5EF4-FFF2-40B4-BE49-F238E27FC236}">
                <a16:creationId xmlns:a16="http://schemas.microsoft.com/office/drawing/2014/main" id="{AFBC7F86-33CE-2AE5-153A-E952BC8CE1DF}"/>
              </a:ext>
            </a:extLst>
          </p:cNvPr>
          <p:cNvSpPr txBox="1"/>
          <p:nvPr/>
        </p:nvSpPr>
        <p:spPr>
          <a:xfrm>
            <a:off x="80818" y="970156"/>
            <a:ext cx="11985040" cy="5645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Snapshot 5: Transfer, Summary and No Account Pages</a:t>
            </a: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Transfer page provides money transfer workflow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Merriweather" panose="00000500000000000000"/>
              </a:rPr>
              <a:t>Summary page shows combined banking overview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Merriweather" panose="0000050000000000000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Account page appears as a separate empty-state page</a:t>
            </a: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Merriweather" panose="0000050000000000000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dirty="0">
              <a:sym typeface="Merriweather" panose="00000500000000000000"/>
            </a:endParaRPr>
          </a:p>
        </p:txBody>
      </p:sp>
      <p:sp>
        <p:nvSpPr>
          <p:cNvPr id="140" name="Google Shape;140;p16">
            <a:extLst>
              <a:ext uri="{FF2B5EF4-FFF2-40B4-BE49-F238E27FC236}">
                <a16:creationId xmlns:a16="http://schemas.microsoft.com/office/drawing/2014/main" id="{FBD07910-8BF8-7421-ADD6-73CCC56D208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41069" y="6435862"/>
            <a:ext cx="8368882" cy="36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r>
              <a:rPr lang="en-US" sz="1600" i="1" dirty="0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Web Development Intern(entry level)</a:t>
            </a:r>
            <a:endParaRPr lang="en-US" sz="14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807497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8D4F14B1-344A-3003-5CCD-5A5705105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>
            <a:extLst>
              <a:ext uri="{FF2B5EF4-FFF2-40B4-BE49-F238E27FC236}">
                <a16:creationId xmlns:a16="http://schemas.microsoft.com/office/drawing/2014/main" id="{4BFD00BE-653B-C21B-7AAC-B60357736B0C}"/>
              </a:ext>
            </a:extLst>
          </p:cNvPr>
          <p:cNvSpPr txBox="1"/>
          <p:nvPr/>
        </p:nvSpPr>
        <p:spPr>
          <a:xfrm>
            <a:off x="67566" y="-13148"/>
            <a:ext cx="1202095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3939"/>
              </a:buClr>
              <a:buSzPts val="4000"/>
              <a:buFont typeface="Times New Roman" panose="02020603050405020304"/>
              <a:buNone/>
            </a:pPr>
            <a:r>
              <a:rPr lang="en-US" sz="4000" b="1" dirty="0">
                <a:solidFill>
                  <a:srgbClr val="733939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Conclusion</a:t>
            </a:r>
            <a:endParaRPr dirty="0"/>
          </a:p>
        </p:txBody>
      </p:sp>
      <p:cxnSp>
        <p:nvCxnSpPr>
          <p:cNvPr id="132" name="Google Shape;132;p16">
            <a:extLst>
              <a:ext uri="{FF2B5EF4-FFF2-40B4-BE49-F238E27FC236}">
                <a16:creationId xmlns:a16="http://schemas.microsoft.com/office/drawing/2014/main" id="{D1E362F1-6D83-4E8F-412E-3C7998B601A2}"/>
              </a:ext>
            </a:extLst>
          </p:cNvPr>
          <p:cNvCxnSpPr/>
          <p:nvPr/>
        </p:nvCxnSpPr>
        <p:spPr>
          <a:xfrm rot="10800000" flipH="1">
            <a:off x="39856" y="66364"/>
            <a:ext cx="12084578" cy="14064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" name="Google Shape;133;p16">
            <a:extLst>
              <a:ext uri="{FF2B5EF4-FFF2-40B4-BE49-F238E27FC236}">
                <a16:creationId xmlns:a16="http://schemas.microsoft.com/office/drawing/2014/main" id="{4CFF741B-6A4F-2EE7-298F-658295023C39}"/>
              </a:ext>
            </a:extLst>
          </p:cNvPr>
          <p:cNvCxnSpPr/>
          <p:nvPr/>
        </p:nvCxnSpPr>
        <p:spPr>
          <a:xfrm rot="10800000" flipH="1">
            <a:off x="39856" y="904564"/>
            <a:ext cx="12048664" cy="14064"/>
          </a:xfrm>
          <a:prstGeom prst="straightConnector1">
            <a:avLst/>
          </a:prstGeom>
          <a:noFill/>
          <a:ln w="1905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" name="Google Shape;134;p16">
            <a:extLst>
              <a:ext uri="{FF2B5EF4-FFF2-40B4-BE49-F238E27FC236}">
                <a16:creationId xmlns:a16="http://schemas.microsoft.com/office/drawing/2014/main" id="{20A8FD76-25B1-74B0-3118-556DD0E7FAF8}"/>
              </a:ext>
            </a:extLst>
          </p:cNvPr>
          <p:cNvCxnSpPr/>
          <p:nvPr/>
        </p:nvCxnSpPr>
        <p:spPr>
          <a:xfrm rot="10800000" flipH="1">
            <a:off x="80818" y="6375827"/>
            <a:ext cx="12020954" cy="22573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5" name="Google Shape;135;p16" descr="Teacher">
            <a:extLst>
              <a:ext uri="{FF2B5EF4-FFF2-40B4-BE49-F238E27FC236}">
                <a16:creationId xmlns:a16="http://schemas.microsoft.com/office/drawing/2014/main" id="{D4361850-8682-E4D8-B330-2A39CEE5619F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3480" y="80428"/>
            <a:ext cx="827584" cy="82758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2D64D305-494D-41AF-9EDB-148327A7344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70C0"/>
                </a:solidFill>
              </a:rPr>
              <a:t>Date: 15/04/2026</a:t>
            </a:r>
            <a:endParaRPr sz="1600" b="1" dirty="0">
              <a:solidFill>
                <a:srgbClr val="0070C0"/>
              </a:solidFill>
            </a:endParaRPr>
          </a:p>
        </p:txBody>
      </p:sp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4D93FC96-EC3E-BA5D-EFE2-DEC79CEB3AC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 lang="en-US" sz="16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Google Shape;138;p16">
            <a:extLst>
              <a:ext uri="{FF2B5EF4-FFF2-40B4-BE49-F238E27FC236}">
                <a16:creationId xmlns:a16="http://schemas.microsoft.com/office/drawing/2014/main" id="{FBCEAD41-C77C-0A01-B1FA-D832D892E835}"/>
              </a:ext>
            </a:extLst>
          </p:cNvPr>
          <p:cNvSpPr txBox="1"/>
          <p:nvPr/>
        </p:nvSpPr>
        <p:spPr>
          <a:xfrm>
            <a:off x="80818" y="956090"/>
            <a:ext cx="1198504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endParaRPr sz="2400" b="1" i="0" u="none" strike="noStrike" cap="none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9" name="Google Shape;139;p16">
            <a:extLst>
              <a:ext uri="{FF2B5EF4-FFF2-40B4-BE49-F238E27FC236}">
                <a16:creationId xmlns:a16="http://schemas.microsoft.com/office/drawing/2014/main" id="{A9D16D6C-9C6B-2BF1-E23A-BAE7EB4BF32C}"/>
              </a:ext>
            </a:extLst>
          </p:cNvPr>
          <p:cNvSpPr txBox="1"/>
          <p:nvPr/>
        </p:nvSpPr>
        <p:spPr>
          <a:xfrm>
            <a:off x="103480" y="945473"/>
            <a:ext cx="11948820" cy="5392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Edutainer Web Development Internship helped me improve my technical and practical skills in frontend and backend development. I learned Python, HTML, CSS, JavaScript, Django, database handling and API concepts through continuous practice and project work.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the Banking System Web Application gave me hands-on experience in creating real web pages, connecting them with Django views, designing URL routes, managing account data and debugging user flow issues.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this internship increased my confidence, improved my problem-solving ability and prepared me for future projects in full-stack web development.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Google Shape;140;p16">
            <a:extLst>
              <a:ext uri="{FF2B5EF4-FFF2-40B4-BE49-F238E27FC236}">
                <a16:creationId xmlns:a16="http://schemas.microsoft.com/office/drawing/2014/main" id="{44AE0FED-8A21-A99A-C848-6E0660C08BD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41069" y="6435862"/>
            <a:ext cx="8368882" cy="36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r>
              <a:rPr lang="en-US" sz="1600" i="1" dirty="0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Web Development Intern(entry level)</a:t>
            </a:r>
            <a:endParaRPr lang="en-US" sz="14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8238765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DA4092DE-AE86-81FC-2705-6772A3581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>
            <a:extLst>
              <a:ext uri="{FF2B5EF4-FFF2-40B4-BE49-F238E27FC236}">
                <a16:creationId xmlns:a16="http://schemas.microsoft.com/office/drawing/2014/main" id="{E86B7243-736C-E190-CE78-222E7EEBAD05}"/>
              </a:ext>
            </a:extLst>
          </p:cNvPr>
          <p:cNvSpPr txBox="1"/>
          <p:nvPr/>
        </p:nvSpPr>
        <p:spPr>
          <a:xfrm>
            <a:off x="67566" y="-13148"/>
            <a:ext cx="1202095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3939"/>
              </a:buClr>
              <a:buSzPts val="4000"/>
              <a:buFont typeface="Times New Roman" panose="02020603050405020304"/>
              <a:buNone/>
            </a:pPr>
            <a:r>
              <a:rPr lang="en-US" sz="4000" b="1" dirty="0">
                <a:solidFill>
                  <a:srgbClr val="733939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Reference</a:t>
            </a:r>
            <a:endParaRPr dirty="0"/>
          </a:p>
        </p:txBody>
      </p:sp>
      <p:cxnSp>
        <p:nvCxnSpPr>
          <p:cNvPr id="132" name="Google Shape;132;p16">
            <a:extLst>
              <a:ext uri="{FF2B5EF4-FFF2-40B4-BE49-F238E27FC236}">
                <a16:creationId xmlns:a16="http://schemas.microsoft.com/office/drawing/2014/main" id="{FB1A0941-D8D4-3572-C56E-C910126EBA6B}"/>
              </a:ext>
            </a:extLst>
          </p:cNvPr>
          <p:cNvCxnSpPr/>
          <p:nvPr/>
        </p:nvCxnSpPr>
        <p:spPr>
          <a:xfrm rot="10800000" flipH="1">
            <a:off x="39856" y="66364"/>
            <a:ext cx="12084578" cy="14064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" name="Google Shape;133;p16">
            <a:extLst>
              <a:ext uri="{FF2B5EF4-FFF2-40B4-BE49-F238E27FC236}">
                <a16:creationId xmlns:a16="http://schemas.microsoft.com/office/drawing/2014/main" id="{A9C11E8F-073F-AB5F-22E4-CBD94763466A}"/>
              </a:ext>
            </a:extLst>
          </p:cNvPr>
          <p:cNvCxnSpPr/>
          <p:nvPr/>
        </p:nvCxnSpPr>
        <p:spPr>
          <a:xfrm rot="10800000" flipH="1">
            <a:off x="39856" y="904564"/>
            <a:ext cx="12048664" cy="14064"/>
          </a:xfrm>
          <a:prstGeom prst="straightConnector1">
            <a:avLst/>
          </a:prstGeom>
          <a:noFill/>
          <a:ln w="1905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" name="Google Shape;134;p16">
            <a:extLst>
              <a:ext uri="{FF2B5EF4-FFF2-40B4-BE49-F238E27FC236}">
                <a16:creationId xmlns:a16="http://schemas.microsoft.com/office/drawing/2014/main" id="{25B73742-6A6B-B205-39F4-3718F799737B}"/>
              </a:ext>
            </a:extLst>
          </p:cNvPr>
          <p:cNvCxnSpPr/>
          <p:nvPr/>
        </p:nvCxnSpPr>
        <p:spPr>
          <a:xfrm rot="10800000" flipH="1">
            <a:off x="80818" y="6375827"/>
            <a:ext cx="12020954" cy="22573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5" name="Google Shape;135;p16" descr="Teacher">
            <a:extLst>
              <a:ext uri="{FF2B5EF4-FFF2-40B4-BE49-F238E27FC236}">
                <a16:creationId xmlns:a16="http://schemas.microsoft.com/office/drawing/2014/main" id="{B5046D08-96D6-7582-124E-A7F85FC11F77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3480" y="80428"/>
            <a:ext cx="827584" cy="82758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9A0EF312-88A9-0462-9D0C-CA2EB0399D4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70C0"/>
                </a:solidFill>
              </a:rPr>
              <a:t>Date: 15/04/2026</a:t>
            </a:r>
            <a:endParaRPr sz="1600" b="1" dirty="0">
              <a:solidFill>
                <a:srgbClr val="0070C0"/>
              </a:solidFill>
            </a:endParaRPr>
          </a:p>
        </p:txBody>
      </p:sp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091CA827-99CA-1FF7-6B1B-1220294A2C2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fld>
            <a:endParaRPr lang="en-US" sz="16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Google Shape;138;p16">
            <a:extLst>
              <a:ext uri="{FF2B5EF4-FFF2-40B4-BE49-F238E27FC236}">
                <a16:creationId xmlns:a16="http://schemas.microsoft.com/office/drawing/2014/main" id="{F21704BE-4A4B-E457-1CB5-421283EE44A3}"/>
              </a:ext>
            </a:extLst>
          </p:cNvPr>
          <p:cNvSpPr txBox="1"/>
          <p:nvPr/>
        </p:nvSpPr>
        <p:spPr>
          <a:xfrm>
            <a:off x="71668" y="786102"/>
            <a:ext cx="11985040" cy="5645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dirty="0">
              <a:sym typeface="Merriweather" panose="00000500000000000000"/>
              <a:hlinkClick r:id="rId4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ym typeface="Merriweather" panose="00000500000000000000"/>
                <a:hlinkClick r:id="rId4"/>
              </a:rPr>
              <a:t>https://www.internship.edutainer.in</a:t>
            </a:r>
            <a:r>
              <a:rPr lang="en-US" altLang="en-US" dirty="0">
                <a:sym typeface="Merriweather" panose="00000500000000000000"/>
              </a:rPr>
              <a:t> – </a:t>
            </a:r>
            <a:r>
              <a:rPr lang="en-IN" dirty="0"/>
              <a:t>Official Edutainer internship platform</a:t>
            </a:r>
            <a:endParaRPr lang="en-US" altLang="en-US" dirty="0">
              <a:sym typeface="Merriweather" panose="0000050000000000000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dirty="0">
              <a:sym typeface="Merriweather" panose="0000050000000000000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ym typeface="Merriweather" panose="00000500000000000000"/>
                <a:hlinkClick r:id="rId5"/>
              </a:rPr>
              <a:t>https://www.internship.edutainer.in/login</a:t>
            </a:r>
            <a:r>
              <a:rPr lang="en-US" altLang="en-US" dirty="0">
                <a:sym typeface="Merriweather" panose="00000500000000000000"/>
              </a:rPr>
              <a:t> - </a:t>
            </a:r>
            <a:r>
              <a:rPr lang="en-IN" dirty="0"/>
              <a:t>Login page to access internship</a:t>
            </a:r>
            <a:endParaRPr lang="en-US" altLang="en-US" dirty="0">
              <a:sym typeface="Merriweather" panose="0000050000000000000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dirty="0">
              <a:sym typeface="Merriweather" panose="0000050000000000000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ym typeface="Merriweather" panose="00000500000000000000"/>
                <a:hlinkClick r:id="rId6"/>
              </a:rPr>
              <a:t>https://www.internship.edutainer.in/student/student-dashboard</a:t>
            </a:r>
            <a:r>
              <a:rPr lang="en-US" altLang="en-US" dirty="0">
                <a:sym typeface="Merriweather" panose="00000500000000000000"/>
              </a:rPr>
              <a:t> - </a:t>
            </a:r>
            <a:r>
              <a:rPr lang="en-IN" dirty="0"/>
              <a:t>Student dashboard for internship progress</a:t>
            </a:r>
            <a:endParaRPr lang="en-US" altLang="en-US" dirty="0">
              <a:sym typeface="Merriweather" panose="0000050000000000000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dirty="0">
              <a:sym typeface="Merriweather" panose="0000050000000000000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ym typeface="Merriweather" panose="00000500000000000000"/>
                <a:hlinkClick r:id="rId7"/>
              </a:rPr>
              <a:t>https://www.internship.edutainer.in/student/my-learning</a:t>
            </a:r>
            <a:r>
              <a:rPr lang="en-US" altLang="en-US" dirty="0">
                <a:sym typeface="Merriweather" panose="00000500000000000000"/>
              </a:rPr>
              <a:t> - </a:t>
            </a:r>
            <a:r>
              <a:rPr lang="en-IN" dirty="0"/>
              <a:t>Learning section with videos and quizzes</a:t>
            </a:r>
            <a:endParaRPr lang="en-US" altLang="en-US" dirty="0">
              <a:sym typeface="Merriweather" panose="0000050000000000000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dirty="0">
              <a:sym typeface="Merriweather" panose="0000050000000000000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ym typeface="Merriweather" panose="00000500000000000000"/>
                <a:hlinkClick r:id="rId8"/>
              </a:rPr>
              <a:t>https://www.internship.edutainer.in/student/my-course/Full-Stack-Web-Development-Bootcamp</a:t>
            </a:r>
            <a:r>
              <a:rPr lang="en-US" altLang="en-US" dirty="0">
                <a:sym typeface="Merriweather" panose="00000500000000000000"/>
              </a:rPr>
              <a:t> - </a:t>
            </a:r>
            <a:r>
              <a:rPr lang="en-IN" dirty="0"/>
              <a:t>HTML, CSS, and JavaScript learning module</a:t>
            </a:r>
            <a:endParaRPr lang="en-US" altLang="en-US" dirty="0">
              <a:sym typeface="Merriweather" panose="0000050000000000000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dirty="0">
              <a:sym typeface="Merriweather" panose="0000050000000000000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ym typeface="Merriweather" panose="00000500000000000000"/>
                <a:hlinkClick r:id="rId9"/>
              </a:rPr>
              <a:t>https://www.internship.edutainer.in/student/my-course/Python-Essentials-and-Libraries-for-Data-Science</a:t>
            </a:r>
            <a:r>
              <a:rPr lang="en-US" altLang="en-US" dirty="0">
                <a:sym typeface="Merriweather" panose="00000500000000000000"/>
              </a:rPr>
              <a:t> - </a:t>
            </a:r>
            <a:r>
              <a:rPr lang="en-IN" dirty="0"/>
              <a:t>Python course content</a:t>
            </a:r>
            <a:endParaRPr lang="en-US" altLang="en-US" dirty="0">
              <a:sym typeface="Merriweather" panose="0000050000000000000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dirty="0">
              <a:sym typeface="Merriweather" panose="0000050000000000000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ym typeface="Merriweather" panose="00000500000000000000"/>
                <a:hlinkClick r:id="rId10"/>
              </a:rPr>
              <a:t>https://www.internship.edutainer.in/student/my-course/React-JS</a:t>
            </a:r>
            <a:r>
              <a:rPr lang="en-US" altLang="en-US" dirty="0">
                <a:sym typeface="Merriweather" panose="00000500000000000000"/>
              </a:rPr>
              <a:t> - </a:t>
            </a:r>
            <a:r>
              <a:rPr lang="en-IN" dirty="0"/>
              <a:t>React JS course module</a:t>
            </a:r>
            <a:endParaRPr lang="en-US" altLang="en-US" dirty="0">
              <a:sym typeface="Merriweather" panose="00000500000000000000"/>
            </a:endParaRPr>
          </a:p>
          <a:p>
            <a:pPr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dirty="0">
              <a:sym typeface="Merriweather" panose="00000500000000000000"/>
            </a:endParaRPr>
          </a:p>
        </p:txBody>
      </p:sp>
      <p:sp>
        <p:nvSpPr>
          <p:cNvPr id="140" name="Google Shape;140;p16">
            <a:extLst>
              <a:ext uri="{FF2B5EF4-FFF2-40B4-BE49-F238E27FC236}">
                <a16:creationId xmlns:a16="http://schemas.microsoft.com/office/drawing/2014/main" id="{109E2D09-80E4-340F-0FFE-8D8EDDCA394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41069" y="6435862"/>
            <a:ext cx="8368882" cy="36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r>
              <a:rPr lang="en-US" sz="1600" i="1" dirty="0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Web Development Intern(entry level)</a:t>
            </a:r>
            <a:endParaRPr lang="en-US" sz="14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7902234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57FC927B-2DD0-9580-B1BA-4B555470B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>
            <a:extLst>
              <a:ext uri="{FF2B5EF4-FFF2-40B4-BE49-F238E27FC236}">
                <a16:creationId xmlns:a16="http://schemas.microsoft.com/office/drawing/2014/main" id="{50FAF664-CED6-6EED-B66C-06492C36493C}"/>
              </a:ext>
            </a:extLst>
          </p:cNvPr>
          <p:cNvSpPr txBox="1"/>
          <p:nvPr/>
        </p:nvSpPr>
        <p:spPr>
          <a:xfrm>
            <a:off x="67566" y="-13148"/>
            <a:ext cx="1202095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3939"/>
              </a:buClr>
              <a:buSzPts val="4000"/>
              <a:buFont typeface="Times New Roman" panose="02020603050405020304"/>
              <a:buNone/>
            </a:pPr>
            <a:endParaRPr dirty="0"/>
          </a:p>
        </p:txBody>
      </p:sp>
      <p:cxnSp>
        <p:nvCxnSpPr>
          <p:cNvPr id="132" name="Google Shape;132;p16">
            <a:extLst>
              <a:ext uri="{FF2B5EF4-FFF2-40B4-BE49-F238E27FC236}">
                <a16:creationId xmlns:a16="http://schemas.microsoft.com/office/drawing/2014/main" id="{62DC7572-C428-49B5-8C4B-ADFCD6A50061}"/>
              </a:ext>
            </a:extLst>
          </p:cNvPr>
          <p:cNvCxnSpPr/>
          <p:nvPr/>
        </p:nvCxnSpPr>
        <p:spPr>
          <a:xfrm rot="10800000" flipH="1">
            <a:off x="39856" y="66364"/>
            <a:ext cx="12084578" cy="14064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" name="Google Shape;133;p16">
            <a:extLst>
              <a:ext uri="{FF2B5EF4-FFF2-40B4-BE49-F238E27FC236}">
                <a16:creationId xmlns:a16="http://schemas.microsoft.com/office/drawing/2014/main" id="{AD1983FD-D044-20B3-6DB1-39DF6B45C067}"/>
              </a:ext>
            </a:extLst>
          </p:cNvPr>
          <p:cNvCxnSpPr/>
          <p:nvPr/>
        </p:nvCxnSpPr>
        <p:spPr>
          <a:xfrm rot="10800000" flipH="1">
            <a:off x="39856" y="904564"/>
            <a:ext cx="12048664" cy="14064"/>
          </a:xfrm>
          <a:prstGeom prst="straightConnector1">
            <a:avLst/>
          </a:prstGeom>
          <a:noFill/>
          <a:ln w="1905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" name="Google Shape;134;p16">
            <a:extLst>
              <a:ext uri="{FF2B5EF4-FFF2-40B4-BE49-F238E27FC236}">
                <a16:creationId xmlns:a16="http://schemas.microsoft.com/office/drawing/2014/main" id="{9989F38F-917E-40C3-D675-28D3540A2AD9}"/>
              </a:ext>
            </a:extLst>
          </p:cNvPr>
          <p:cNvCxnSpPr/>
          <p:nvPr/>
        </p:nvCxnSpPr>
        <p:spPr>
          <a:xfrm rot="10800000" flipH="1">
            <a:off x="80818" y="6375827"/>
            <a:ext cx="12020954" cy="22573"/>
          </a:xfrm>
          <a:prstGeom prst="straightConnector1">
            <a:avLst/>
          </a:pr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5" name="Google Shape;135;p16" descr="Teacher">
            <a:extLst>
              <a:ext uri="{FF2B5EF4-FFF2-40B4-BE49-F238E27FC236}">
                <a16:creationId xmlns:a16="http://schemas.microsoft.com/office/drawing/2014/main" id="{56D735CB-A573-DD49-67C0-A063DA6B187B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3480" y="80428"/>
            <a:ext cx="827584" cy="82758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4B670245-B0B8-01E6-C58A-B138098B94F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70C0"/>
                </a:solidFill>
              </a:rPr>
              <a:t>Date: 15/04/2026</a:t>
            </a:r>
            <a:endParaRPr sz="1600" b="1" dirty="0">
              <a:solidFill>
                <a:srgbClr val="0070C0"/>
              </a:solidFill>
            </a:endParaRPr>
          </a:p>
        </p:txBody>
      </p:sp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0F5F149B-E1B2-2559-3AE9-E0016C9DF86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4358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fld>
            <a:endParaRPr lang="en-US" sz="16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Google Shape;138;p16">
            <a:extLst>
              <a:ext uri="{FF2B5EF4-FFF2-40B4-BE49-F238E27FC236}">
                <a16:creationId xmlns:a16="http://schemas.microsoft.com/office/drawing/2014/main" id="{5134A7B3-7C2D-6366-BD79-339CF33BB90F}"/>
              </a:ext>
            </a:extLst>
          </p:cNvPr>
          <p:cNvSpPr txBox="1"/>
          <p:nvPr/>
        </p:nvSpPr>
        <p:spPr>
          <a:xfrm>
            <a:off x="80818" y="956090"/>
            <a:ext cx="1198504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endParaRPr sz="2400" b="1" i="0" u="none" strike="noStrike" cap="none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9" name="Google Shape;139;p16">
            <a:extLst>
              <a:ext uri="{FF2B5EF4-FFF2-40B4-BE49-F238E27FC236}">
                <a16:creationId xmlns:a16="http://schemas.microsoft.com/office/drawing/2014/main" id="{984EF031-393C-738E-7E44-2F38200341DF}"/>
              </a:ext>
            </a:extLst>
          </p:cNvPr>
          <p:cNvSpPr txBox="1"/>
          <p:nvPr/>
        </p:nvSpPr>
        <p:spPr>
          <a:xfrm>
            <a:off x="67310" y="980763"/>
            <a:ext cx="11984990" cy="535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150000"/>
              </a:lnSpc>
              <a:buClr>
                <a:srgbClr val="3B3835"/>
              </a:buClr>
              <a:buSzPts val="2800"/>
            </a:pP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Clr>
                <a:srgbClr val="3B3835"/>
              </a:buClr>
              <a:buSzPts val="2800"/>
              <a:buFont typeface="Arial" panose="020B0604020202020204" pitchFamily="34" charset="0"/>
              <a:buNone/>
            </a:pPr>
            <a:endParaRPr lang="en-US" sz="2000" b="0" i="0" u="none" strike="noStrike" cap="none" dirty="0">
              <a:solidFill>
                <a:srgbClr val="3B383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ctr">
              <a:lnSpc>
                <a:spcPct val="150000"/>
              </a:lnSpc>
              <a:buClr>
                <a:srgbClr val="3B3835"/>
              </a:buClr>
              <a:buSzPts val="2800"/>
              <a:buFont typeface="Arial" panose="020B0604020202020204" pitchFamily="34" charset="0"/>
              <a:buNone/>
            </a:pPr>
            <a:endParaRPr lang="en-US" sz="2000" dirty="0">
              <a:solidFill>
                <a:srgbClr val="3B383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ctr">
              <a:lnSpc>
                <a:spcPct val="150000"/>
              </a:lnSpc>
              <a:buClr>
                <a:srgbClr val="3B3835"/>
              </a:buClr>
              <a:buSzPts val="2800"/>
              <a:buFont typeface="Arial" panose="020B0604020202020204" pitchFamily="34" charset="0"/>
              <a:buNone/>
            </a:pPr>
            <a:endParaRPr lang="en-US" sz="2000" b="0" i="0" u="none" strike="noStrike" cap="none" dirty="0">
              <a:solidFill>
                <a:srgbClr val="3B383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ctr">
              <a:buClr>
                <a:srgbClr val="3B3835"/>
              </a:buClr>
              <a:buSzPts val="2800"/>
              <a:buFont typeface="Arial" panose="020B0604020202020204"/>
              <a:buNone/>
            </a:pPr>
            <a:r>
              <a:rPr lang="en-IN" sz="8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Thank You</a:t>
            </a:r>
          </a:p>
        </p:txBody>
      </p:sp>
      <p:sp>
        <p:nvSpPr>
          <p:cNvPr id="140" name="Google Shape;140;p16">
            <a:extLst>
              <a:ext uri="{FF2B5EF4-FFF2-40B4-BE49-F238E27FC236}">
                <a16:creationId xmlns:a16="http://schemas.microsoft.com/office/drawing/2014/main" id="{0B36193B-3324-4C2D-03F3-694C97A8B4F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41069" y="6435862"/>
            <a:ext cx="8368882" cy="36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r>
              <a:rPr lang="en-US" sz="1600" i="1" dirty="0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Web Development Intern(entry level)</a:t>
            </a:r>
            <a:endParaRPr lang="en-US" sz="14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endParaRPr lang="en-US" sz="1600" i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175167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1267</TotalTime>
  <Words>1827</Words>
  <Application>Microsoft Macintosh PowerPoint</Application>
  <PresentationFormat>Widescreen</PresentationFormat>
  <Paragraphs>351</Paragraphs>
  <Slides>23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Merriweather</vt:lpstr>
      <vt:lpstr>Calibri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Anjali M</dc:creator>
  <cp:lastModifiedBy>apeksha gowda</cp:lastModifiedBy>
  <cp:revision>57</cp:revision>
  <dcterms:created xsi:type="dcterms:W3CDTF">2025-09-24T07:54:00Z</dcterms:created>
  <dcterms:modified xsi:type="dcterms:W3CDTF">2026-05-06T17:57:41Z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B151289C992D475B9BF0C713ED15C9C7_13</vt:lpwstr>
  </property>
  <property fmtid="{D5CDD505-2E9C-101B-9397-08002B2CF9AE}" pid="3" name="KSOProductBuildVer">
    <vt:lpwstr>1033-12.2.0.23196</vt:lpwstr>
  </property>
</Properties>
</file>