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319" r:id="rId3"/>
    <p:sldId id="332" r:id="rId4"/>
    <p:sldId id="333" r:id="rId5"/>
    <p:sldId id="334" r:id="rId6"/>
    <p:sldId id="336" r:id="rId7"/>
    <p:sldId id="337" r:id="rId8"/>
    <p:sldId id="400" r:id="rId9"/>
    <p:sldId id="401" r:id="rId10"/>
    <p:sldId id="402" r:id="rId11"/>
    <p:sldId id="403" r:id="rId12"/>
    <p:sldId id="404" r:id="rId13"/>
    <p:sldId id="405" r:id="rId14"/>
    <p:sldId id="406" r:id="rId15"/>
    <p:sldId id="407" r:id="rId16"/>
    <p:sldId id="408" r:id="rId17"/>
    <p:sldId id="414" r:id="rId18"/>
    <p:sldId id="409" r:id="rId19"/>
    <p:sldId id="410" r:id="rId20"/>
    <p:sldId id="411" r:id="rId21"/>
    <p:sldId id="412" r:id="rId22"/>
    <p:sldId id="413" r:id="rId23"/>
    <p:sldId id="338" r:id="rId24"/>
    <p:sldId id="331" r:id="rId25"/>
  </p:sldIdLst>
  <p:sldSz cx="12192000" cy="6858000"/>
  <p:notesSz cx="6858000" cy="9144000"/>
  <p:embeddedFontLst>
    <p:embeddedFont>
      <p:font typeface="Merriweather" pitchFamily="2"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EED0FF9A-572D-4EB3-9047-66BC36F9BC9F}">
          <p14:sldIdLst>
            <p14:sldId id="256"/>
            <p14:sldId id="319"/>
            <p14:sldId id="332"/>
            <p14:sldId id="333"/>
            <p14:sldId id="334"/>
            <p14:sldId id="336"/>
            <p14:sldId id="337"/>
            <p14:sldId id="400"/>
            <p14:sldId id="401"/>
            <p14:sldId id="402"/>
            <p14:sldId id="403"/>
            <p14:sldId id="404"/>
            <p14:sldId id="405"/>
            <p14:sldId id="406"/>
            <p14:sldId id="407"/>
            <p14:sldId id="408"/>
            <p14:sldId id="414"/>
            <p14:sldId id="409"/>
            <p14:sldId id="410"/>
            <p14:sldId id="411"/>
            <p14:sldId id="412"/>
            <p14:sldId id="413"/>
            <p14:sldId id="338"/>
            <p14:sldId id="331"/>
          </p14:sldIdLst>
        </p14:section>
        <p14:section name="Untitled Section" id="{81D10791-C342-4FD5-9451-6DC6627090C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DF847D-A422-4963-8273-8BE9E3934A6F}" styleName="Table_0">
    <a:wholeTbl>
      <a:tcTxStyle>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80" autoAdjust="0"/>
    <p:restoredTop sz="92041" autoAdjust="0"/>
  </p:normalViewPr>
  <p:slideViewPr>
    <p:cSldViewPr snapToGrid="0">
      <p:cViewPr varScale="1">
        <p:scale>
          <a:sx n="117" d="100"/>
          <a:sy n="117"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3F42536A-988E-077E-DECF-0D181810D419}"/>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B1333BFA-7343-9DFF-5586-C318C952B6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C23DF7A3-CD68-28F1-EC0D-D65559B101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1704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F140679C-5A2E-6AB7-991B-35C12F6B9642}"/>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DC859FC1-7709-81CF-591A-28D18F1C7F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B3F68A3D-826D-226D-352E-7BF61402D9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572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B232417C-96AB-B822-DBD3-33FFE66D94E3}"/>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B8F0DB19-30C8-0035-D900-6DD85C2E1D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EC955458-2992-8816-54FB-5931A79926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795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D9B336E9-2ACB-667F-91E6-0D74D01B3B13}"/>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BC82A846-D2E8-4609-1DF1-A2E1B6BDA7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9AF7E541-4E69-F4CB-1D80-A3F8CF4C9E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8973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EB0D288-E689-9EB9-F583-D939275F2DF9}"/>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A0FB0EB3-91BE-C333-BC2F-75BD427E58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BF9503A4-294E-365E-D1D7-872985F385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928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57A4A2B0-F153-782D-EE16-4849D13E6FBE}"/>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88077D18-83AC-4CAF-EAC2-0A1C25BCDB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AE73A308-52C1-CCE6-F114-D0EFBAC734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6403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3E3FE075-F3AB-5BC3-D31D-41B43D3BF207}"/>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680168D7-CA5C-970B-39E9-163F59B5F6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4:notes">
            <a:extLst>
              <a:ext uri="{FF2B5EF4-FFF2-40B4-BE49-F238E27FC236}">
                <a16:creationId xmlns:a16="http://schemas.microsoft.com/office/drawing/2014/main" id="{EBDE9E08-6DE6-D99E-360E-DDCCDD4F9B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514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Date:</a:t>
            </a: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Title of the Project in short</a:t>
            </a: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t>Date:</a:t>
            </a: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t>Title of the Project in short</a:t>
            </a: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hyperlink" Target="https://www.internship.edutainer.in/student/my-course/Full-Stack-Web-Development-Bootcamp" TargetMode="External"/><Relationship Id="rId3" Type="http://schemas.openxmlformats.org/officeDocument/2006/relationships/image" Target="../media/image3.png"/><Relationship Id="rId7" Type="http://schemas.openxmlformats.org/officeDocument/2006/relationships/hyperlink" Target="https://www.internship.edutainer.in/student/my-learnin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internship.edutainer.in/student/student-dashboard" TargetMode="External"/><Relationship Id="rId5" Type="http://schemas.openxmlformats.org/officeDocument/2006/relationships/hyperlink" Target="https://www.internship.edutainer.in/login" TargetMode="External"/><Relationship Id="rId4" Type="http://schemas.openxmlformats.org/officeDocument/2006/relationships/hyperlink" Target="https://www.internship.edutainer.in/" TargetMode="External"/><Relationship Id="rId9" Type="http://schemas.openxmlformats.org/officeDocument/2006/relationships/hyperlink" Target="https://www.internship.edutainer.in/student/my-course/Python-Essentials-and-Libraries-for-Data-Scienc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71668" y="117890"/>
            <a:ext cx="12020954" cy="1624796"/>
          </a:xfrm>
          <a:prstGeom prst="rect">
            <a:avLst/>
          </a:prstGeom>
          <a:noFill/>
          <a:ln>
            <a:noFill/>
          </a:ln>
        </p:spPr>
        <p:txBody>
          <a:bodyPr spcFirstLastPara="1" wrap="square" lIns="91425" tIns="45700" rIns="91425" bIns="45700" anchor="b" anchorCtr="0">
            <a:normAutofit lnSpcReduction="10000"/>
          </a:bodyPr>
          <a:lstStyle/>
          <a:p>
            <a:pPr marL="0" marR="0" lvl="0" indent="0" algn="ctr" rtl="0">
              <a:lnSpc>
                <a:spcPct val="100000"/>
              </a:lnSpc>
              <a:spcBef>
                <a:spcPts val="0"/>
              </a:spcBef>
              <a:spcAft>
                <a:spcPts val="0"/>
              </a:spcAft>
              <a:buClr>
                <a:srgbClr val="733939"/>
              </a:buClr>
              <a:buSzPts val="1800"/>
              <a:buFont typeface="Calibri" panose="020F0502020204030204"/>
              <a:buNone/>
            </a:pPr>
            <a:r>
              <a:rPr lang="en-US" sz="1800" b="1" i="0" u="none" strike="noStrike" cap="none" dirty="0">
                <a:solidFill>
                  <a:srgbClr val="733939"/>
                </a:solidFill>
                <a:latin typeface="Calibri" panose="020F0502020204030204"/>
                <a:ea typeface="Calibri" panose="020F0502020204030204"/>
                <a:cs typeface="Calibri" panose="020F0502020204030204"/>
                <a:sym typeface="Calibri" panose="020F0502020204030204"/>
              </a:rPr>
              <a:t>National Education Society®</a:t>
            </a:r>
          </a:p>
          <a:p>
            <a:pPr marL="0" marR="0" lvl="0" indent="0" algn="ctr" rtl="0">
              <a:lnSpc>
                <a:spcPct val="100000"/>
              </a:lnSpc>
              <a:spcBef>
                <a:spcPts val="0"/>
              </a:spcBef>
              <a:spcAft>
                <a:spcPts val="0"/>
              </a:spcAft>
              <a:buClr>
                <a:srgbClr val="733939"/>
              </a:buClr>
              <a:buSzPts val="3200"/>
              <a:buFont typeface="Times New Roman" panose="02020603050405020304"/>
              <a:buNone/>
            </a:pPr>
            <a:r>
              <a:rPr lang="en-US" sz="3200" b="1" i="0" u="none" strike="noStrike" cap="none" dirty="0">
                <a:solidFill>
                  <a:srgbClr val="733939"/>
                </a:solidFill>
                <a:latin typeface="Times New Roman" panose="02020603050405020304"/>
                <a:ea typeface="Times New Roman" panose="02020603050405020304"/>
                <a:cs typeface="Times New Roman" panose="02020603050405020304"/>
                <a:sym typeface="Times New Roman" panose="02020603050405020304"/>
              </a:rPr>
              <a:t>JNN College of Engineering, Shivamogga</a:t>
            </a:r>
          </a:p>
          <a:p>
            <a:pPr marL="0" marR="0" lvl="0" indent="0" algn="ctr" rtl="0">
              <a:lnSpc>
                <a:spcPct val="100000"/>
              </a:lnSpc>
              <a:spcBef>
                <a:spcPts val="0"/>
              </a:spcBef>
              <a:spcAft>
                <a:spcPts val="0"/>
              </a:spcAft>
              <a:buClr>
                <a:srgbClr val="733939"/>
              </a:buClr>
              <a:buSzPts val="2800"/>
              <a:buFont typeface="Times New Roman" panose="02020603050405020304"/>
              <a:buNone/>
            </a:pPr>
            <a:r>
              <a:rPr lang="en-US" sz="2800" b="1" i="0" u="none" strike="noStrike" cap="none" dirty="0">
                <a:solidFill>
                  <a:srgbClr val="733939"/>
                </a:solidFill>
                <a:latin typeface="Times New Roman" panose="02020603050405020304"/>
                <a:ea typeface="Times New Roman" panose="02020603050405020304"/>
                <a:cs typeface="Times New Roman" panose="02020603050405020304"/>
                <a:sym typeface="Times New Roman" panose="02020603050405020304"/>
              </a:rPr>
              <a:t>Department of Information Science and Engineering</a:t>
            </a:r>
          </a:p>
          <a:p>
            <a:pPr algn="ctr"/>
            <a:r>
              <a:rPr lang="en-IN" sz="1200" i="1" spc="-1" dirty="0" err="1">
                <a:latin typeface="Calibri"/>
                <a:ea typeface="Calibri"/>
              </a:rPr>
              <a:t>Sawalanga</a:t>
            </a:r>
            <a:r>
              <a:rPr lang="en-IN" sz="1200" i="1" spc="-1" dirty="0">
                <a:latin typeface="Calibri"/>
                <a:ea typeface="Calibri"/>
              </a:rPr>
              <a:t> Road, </a:t>
            </a:r>
            <a:r>
              <a:rPr lang="en-IN" sz="1200" i="1" spc="-1" dirty="0" err="1">
                <a:latin typeface="Calibri"/>
                <a:ea typeface="Calibri"/>
              </a:rPr>
              <a:t>Navule</a:t>
            </a:r>
            <a:r>
              <a:rPr lang="en-IN" sz="1200" i="1" spc="-1" dirty="0">
                <a:latin typeface="Calibri"/>
                <a:ea typeface="Calibri"/>
              </a:rPr>
              <a:t>, Shivamogga -277204</a:t>
            </a:r>
            <a:endParaRPr lang="en-IN" sz="1200" spc="-1" dirty="0"/>
          </a:p>
          <a:p>
            <a:pPr algn="ctr"/>
            <a:r>
              <a:rPr lang="en-IN" sz="1600" i="1" spc="-1" dirty="0">
                <a:latin typeface="Calibri"/>
                <a:ea typeface="Calibri"/>
              </a:rPr>
              <a:t>(Accredited by NBA, NAAC ‘A' &amp; Certified by UGC 2f &amp; 12B)</a:t>
            </a:r>
            <a:endParaRPr lang="en-IN" sz="1600" spc="-1" dirty="0"/>
          </a:p>
        </p:txBody>
      </p:sp>
      <p:cxnSp>
        <p:nvCxnSpPr>
          <p:cNvPr id="89" name="Google Shape;89;p13"/>
          <p:cNvCxnSpPr/>
          <p:nvPr/>
        </p:nvCxnSpPr>
        <p:spPr>
          <a:xfrm rot="10800000" flipH="1">
            <a:off x="39856" y="66364"/>
            <a:ext cx="12084578" cy="14064"/>
          </a:xfrm>
          <a:prstGeom prst="straightConnector1">
            <a:avLst/>
          </a:prstGeom>
          <a:noFill/>
          <a:ln w="38100" cap="flat" cmpd="sng">
            <a:solidFill>
              <a:schemeClr val="hlink"/>
            </a:solidFill>
            <a:prstDash val="solid"/>
            <a:round/>
            <a:headEnd type="none" w="med" len="med"/>
            <a:tailEnd type="none" w="med" len="med"/>
          </a:ln>
        </p:spPr>
      </p:cxnSp>
      <p:cxnSp>
        <p:nvCxnSpPr>
          <p:cNvPr id="90" name="Google Shape;90;p13"/>
          <p:cNvCxnSpPr/>
          <p:nvPr/>
        </p:nvCxnSpPr>
        <p:spPr>
          <a:xfrm rot="10800000" flipH="1">
            <a:off x="62519" y="1780149"/>
            <a:ext cx="12007702" cy="22574"/>
          </a:xfrm>
          <a:prstGeom prst="straightConnector1">
            <a:avLst/>
          </a:prstGeom>
          <a:noFill/>
          <a:ln w="19050" cap="flat" cmpd="sng">
            <a:solidFill>
              <a:schemeClr val="hlink"/>
            </a:solidFill>
            <a:prstDash val="solid"/>
            <a:round/>
            <a:headEnd type="none" w="med" len="med"/>
            <a:tailEnd type="none" w="med" len="med"/>
          </a:ln>
        </p:spPr>
      </p:cxnSp>
      <p:cxnSp>
        <p:nvCxnSpPr>
          <p:cNvPr id="91" name="Google Shape;91;p13"/>
          <p:cNvCxnSpPr/>
          <p:nvPr/>
        </p:nvCxnSpPr>
        <p:spPr>
          <a:xfrm rot="10800000" flipH="1">
            <a:off x="80818" y="6375827"/>
            <a:ext cx="12020954" cy="22573"/>
          </a:xfrm>
          <a:prstGeom prst="straightConnector1">
            <a:avLst/>
          </a:prstGeom>
          <a:noFill/>
          <a:ln w="38100" cap="flat" cmpd="sng">
            <a:solidFill>
              <a:schemeClr val="hlink"/>
            </a:solidFill>
            <a:prstDash val="solid"/>
            <a:round/>
            <a:headEnd type="none" w="med" len="med"/>
            <a:tailEnd type="none" w="med" len="med"/>
          </a:ln>
        </p:spPr>
      </p:cxnSp>
      <p:sp>
        <p:nvSpPr>
          <p:cNvPr id="92" name="Google Shape;92;p13"/>
          <p:cNvSpPr txBox="1"/>
          <p:nvPr/>
        </p:nvSpPr>
        <p:spPr>
          <a:xfrm>
            <a:off x="103480" y="4223329"/>
            <a:ext cx="11449225" cy="307736"/>
          </a:xfrm>
          <a:prstGeom prst="rect">
            <a:avLst/>
          </a:prstGeom>
          <a:noFill/>
          <a:ln>
            <a:noFill/>
          </a:ln>
        </p:spPr>
        <p:txBody>
          <a:bodyPr spcFirstLastPara="1" wrap="square" lIns="91425" tIns="45700" rIns="91425" bIns="45700" anchor="t" anchorCtr="0">
            <a:spAutoFit/>
          </a:bodyPr>
          <a:lstStyle/>
          <a:p>
            <a:pPr marL="457200" marR="0" lvl="0" indent="0" algn="ctr" rtl="0">
              <a:spcBef>
                <a:spcPts val="0"/>
              </a:spcBef>
              <a:spcAft>
                <a:spcPts val="0"/>
              </a:spcAft>
              <a:buNone/>
            </a:pPr>
            <a:endParaRPr dirty="0"/>
          </a:p>
        </p:txBody>
      </p:sp>
      <p:sp>
        <p:nvSpPr>
          <p:cNvPr id="93" name="Google Shape;93;p13"/>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Date:07/05/2026</a:t>
            </a:r>
            <a:endParaRPr sz="1600" b="1" dirty="0">
              <a:solidFill>
                <a:srgbClr val="0070C0"/>
              </a:solidFill>
            </a:endParaRPr>
          </a:p>
        </p:txBody>
      </p:sp>
      <p:sp>
        <p:nvSpPr>
          <p:cNvPr id="94" name="Google Shape;94;p13"/>
          <p:cNvSpPr txBox="1">
            <a:spLocks noGrp="1"/>
          </p:cNvSpPr>
          <p:nvPr>
            <p:ph type="ftr" idx="11"/>
          </p:nvPr>
        </p:nvSpPr>
        <p:spPr>
          <a:xfrm>
            <a:off x="2664542" y="6435863"/>
            <a:ext cx="6810762" cy="40258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13"/>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a:t>
            </a:fld>
            <a:endParaRPr lang="en-US" sz="1600" b="1">
              <a:solidFill>
                <a:srgbClr val="0070C0"/>
              </a:solidFill>
              <a:latin typeface="Times New Roman" panose="02020603050405020304" pitchFamily="18" charset="0"/>
              <a:cs typeface="Times New Roman" panose="02020603050405020304" pitchFamily="18" charset="0"/>
            </a:endParaRPr>
          </a:p>
        </p:txBody>
      </p:sp>
      <p:pic>
        <p:nvPicPr>
          <p:cNvPr id="98" name="Google Shape;98;p13"/>
          <p:cNvPicPr preferRelativeResize="0"/>
          <p:nvPr/>
        </p:nvPicPr>
        <p:blipFill rotWithShape="1">
          <a:blip r:embed="rId3"/>
          <a:srcRect/>
          <a:stretch>
            <a:fillRect/>
          </a:stretch>
        </p:blipFill>
        <p:spPr>
          <a:xfrm>
            <a:off x="10707894" y="326488"/>
            <a:ext cx="1166053" cy="1170871"/>
          </a:xfrm>
          <a:prstGeom prst="rect">
            <a:avLst/>
          </a:prstGeom>
          <a:noFill/>
          <a:ln>
            <a:noFill/>
          </a:ln>
        </p:spPr>
      </p:pic>
      <p:pic>
        <p:nvPicPr>
          <p:cNvPr id="99" name="Google Shape;99;p13"/>
          <p:cNvPicPr preferRelativeResize="0"/>
          <p:nvPr/>
        </p:nvPicPr>
        <p:blipFill rotWithShape="1">
          <a:blip r:embed="rId4"/>
          <a:srcRect/>
          <a:stretch>
            <a:fillRect/>
          </a:stretch>
        </p:blipFill>
        <p:spPr>
          <a:xfrm>
            <a:off x="159802" y="263299"/>
            <a:ext cx="1166053" cy="1287959"/>
          </a:xfrm>
          <a:prstGeom prst="rect">
            <a:avLst/>
          </a:prstGeom>
          <a:noFill/>
          <a:ln>
            <a:noFill/>
          </a:ln>
        </p:spPr>
      </p:pic>
      <p:sp>
        <p:nvSpPr>
          <p:cNvPr id="2" name="TextShape 1">
            <a:extLst>
              <a:ext uri="{FF2B5EF4-FFF2-40B4-BE49-F238E27FC236}">
                <a16:creationId xmlns:a16="http://schemas.microsoft.com/office/drawing/2014/main" id="{621E464C-CF65-4720-99DE-54CA437B36C6}"/>
              </a:ext>
            </a:extLst>
          </p:cNvPr>
          <p:cNvSpPr txBox="1"/>
          <p:nvPr/>
        </p:nvSpPr>
        <p:spPr>
          <a:xfrm>
            <a:off x="505080" y="1856622"/>
            <a:ext cx="10631160" cy="2507768"/>
          </a:xfrm>
          <a:prstGeom prst="rect">
            <a:avLst/>
          </a:prstGeom>
          <a:noFill/>
          <a:ln>
            <a:noFill/>
          </a:ln>
        </p:spPr>
        <p:txBody>
          <a:bodyPr>
            <a:normAutofit/>
          </a:bodyPr>
          <a:lstStyle/>
          <a:p>
            <a:pPr algn="ctr">
              <a:lnSpc>
                <a:spcPct val="90000"/>
              </a:lnSpc>
              <a:spcBef>
                <a:spcPts val="1001"/>
              </a:spcBef>
            </a:pPr>
            <a:r>
              <a:rPr lang="en-IN" sz="2000" b="1" strike="noStrike" spc="-1" dirty="0">
                <a:solidFill>
                  <a:schemeClr val="tx1"/>
                </a:solidFill>
                <a:latin typeface="Times New Roman"/>
              </a:rPr>
              <a:t>Internship Mid Review Seminar </a:t>
            </a:r>
            <a:r>
              <a:rPr lang="en-IN" sz="2000" b="1" spc="-1" dirty="0">
                <a:solidFill>
                  <a:schemeClr val="tx1"/>
                </a:solidFill>
                <a:latin typeface="Times New Roman"/>
              </a:rPr>
              <a:t>o</a:t>
            </a:r>
            <a:r>
              <a:rPr lang="en-IN" sz="2000" b="1" strike="noStrike" spc="-1" dirty="0">
                <a:solidFill>
                  <a:schemeClr val="tx1"/>
                </a:solidFill>
                <a:latin typeface="Times New Roman"/>
              </a:rPr>
              <a:t>n</a:t>
            </a:r>
            <a:endParaRPr lang="en-IN" sz="2000" b="0" strike="noStrike" spc="-1" dirty="0">
              <a:solidFill>
                <a:schemeClr val="tx1"/>
              </a:solidFill>
              <a:latin typeface="Arial"/>
            </a:endParaRPr>
          </a:p>
          <a:p>
            <a:pPr algn="ctr">
              <a:lnSpc>
                <a:spcPct val="90000"/>
              </a:lnSpc>
              <a:spcBef>
                <a:spcPts val="1001"/>
              </a:spcBef>
            </a:pPr>
            <a:r>
              <a:rPr lang="en-IN" sz="2400" b="1" strike="noStrike" spc="-1" dirty="0">
                <a:solidFill>
                  <a:srgbClr val="C00000"/>
                </a:solidFill>
                <a:latin typeface="Times New Roman"/>
              </a:rPr>
              <a:t>“Web Development Intern(entry level)”</a:t>
            </a:r>
            <a:endParaRPr lang="en-IN" sz="2400" b="0" strike="noStrike" spc="-1" dirty="0">
              <a:solidFill>
                <a:srgbClr val="C00000"/>
              </a:solidFill>
              <a:latin typeface="Arial"/>
            </a:endParaRPr>
          </a:p>
          <a:p>
            <a:pPr algn="ctr">
              <a:lnSpc>
                <a:spcPct val="90000"/>
              </a:lnSpc>
              <a:spcBef>
                <a:spcPts val="1001"/>
              </a:spcBef>
            </a:pPr>
            <a:r>
              <a:rPr lang="en-IN" sz="2000" b="1" strike="noStrike" spc="-1" dirty="0">
                <a:solidFill>
                  <a:srgbClr val="000000"/>
                </a:solidFill>
                <a:latin typeface="Times New Roman"/>
              </a:rPr>
              <a:t>Carried out at</a:t>
            </a:r>
            <a:endParaRPr lang="en-IN" sz="2000" b="0" strike="noStrike" spc="-1" dirty="0">
              <a:latin typeface="Arial"/>
            </a:endParaRPr>
          </a:p>
          <a:p>
            <a:pPr algn="ctr">
              <a:lnSpc>
                <a:spcPct val="90000"/>
              </a:lnSpc>
              <a:spcBef>
                <a:spcPts val="1001"/>
              </a:spcBef>
            </a:pPr>
            <a:r>
              <a:rPr lang="en-IN" sz="2200" b="1" spc="-1" dirty="0">
                <a:solidFill>
                  <a:srgbClr val="C00000"/>
                </a:solidFill>
                <a:latin typeface="Times New Roman"/>
              </a:rPr>
              <a:t>“Edutainer(Online Internship Platform)”</a:t>
            </a:r>
            <a:endParaRPr lang="en-IN" sz="2200" b="0" strike="noStrike" spc="-1" dirty="0">
              <a:solidFill>
                <a:srgbClr val="C00000"/>
              </a:solidFill>
              <a:latin typeface="Arial"/>
            </a:endParaRPr>
          </a:p>
          <a:p>
            <a:pPr algn="ctr">
              <a:lnSpc>
                <a:spcPct val="90000"/>
              </a:lnSpc>
              <a:spcBef>
                <a:spcPts val="1001"/>
              </a:spcBef>
            </a:pPr>
            <a:r>
              <a:rPr lang="en-IN" sz="2000" b="1" strike="noStrike" spc="-1" dirty="0">
                <a:solidFill>
                  <a:srgbClr val="000000"/>
                </a:solidFill>
                <a:latin typeface="Times New Roman"/>
              </a:rPr>
              <a:t>during</a:t>
            </a:r>
            <a:r>
              <a:rPr lang="en-IN" sz="2000" b="1" strike="noStrike" spc="-1" dirty="0">
                <a:solidFill>
                  <a:srgbClr val="FF0000"/>
                </a:solidFill>
                <a:latin typeface="Times New Roman"/>
              </a:rPr>
              <a:t> </a:t>
            </a:r>
            <a:endParaRPr lang="en-IN" sz="2000" b="0" strike="noStrike" spc="-1" dirty="0">
              <a:latin typeface="Arial"/>
            </a:endParaRPr>
          </a:p>
          <a:p>
            <a:pPr algn="ctr">
              <a:lnSpc>
                <a:spcPct val="90000"/>
              </a:lnSpc>
              <a:spcBef>
                <a:spcPts val="1001"/>
              </a:spcBef>
            </a:pPr>
            <a:r>
              <a:rPr lang="en-IN" sz="2000" b="1" spc="-1" dirty="0">
                <a:solidFill>
                  <a:srgbClr val="002060"/>
                </a:solidFill>
                <a:latin typeface="Times New Roman"/>
              </a:rPr>
              <a:t>15</a:t>
            </a:r>
            <a:r>
              <a:rPr lang="en-IN" sz="2000" b="1" strike="noStrike" spc="-1" dirty="0">
                <a:solidFill>
                  <a:srgbClr val="002060"/>
                </a:solidFill>
                <a:latin typeface="Times New Roman"/>
              </a:rPr>
              <a:t>th April 2026 – 16 April 2026</a:t>
            </a:r>
            <a:endParaRPr lang="en-IN" sz="2000" b="0" strike="noStrike" spc="-1" dirty="0">
              <a:latin typeface="Arial"/>
            </a:endParaRPr>
          </a:p>
        </p:txBody>
      </p:sp>
      <p:sp>
        <p:nvSpPr>
          <p:cNvPr id="4" name="CustomShape 4">
            <a:extLst>
              <a:ext uri="{FF2B5EF4-FFF2-40B4-BE49-F238E27FC236}">
                <a16:creationId xmlns:a16="http://schemas.microsoft.com/office/drawing/2014/main" id="{D9F5B385-1542-4AEA-2119-0C3EF3A45CD6}"/>
              </a:ext>
            </a:extLst>
          </p:cNvPr>
          <p:cNvSpPr/>
          <p:nvPr/>
        </p:nvSpPr>
        <p:spPr>
          <a:xfrm>
            <a:off x="346680" y="4683497"/>
            <a:ext cx="3677760" cy="14176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90000"/>
              </a:lnSpc>
              <a:spcBef>
                <a:spcPts val="1001"/>
              </a:spcBef>
            </a:pPr>
            <a:r>
              <a:rPr lang="en-IN" sz="2400" b="1" strike="noStrike" spc="-1" dirty="0">
                <a:solidFill>
                  <a:srgbClr val="000000"/>
                </a:solidFill>
                <a:latin typeface="Times New Roman"/>
              </a:rPr>
              <a:t>Presented by:</a:t>
            </a:r>
            <a:endParaRPr lang="en-IN" sz="2400" b="0" strike="noStrike" spc="-1" dirty="0">
              <a:latin typeface="Arial"/>
            </a:endParaRPr>
          </a:p>
          <a:p>
            <a:pPr>
              <a:lnSpc>
                <a:spcPct val="90000"/>
              </a:lnSpc>
              <a:spcBef>
                <a:spcPts val="1001"/>
              </a:spcBef>
            </a:pPr>
            <a:r>
              <a:rPr lang="en-IN" sz="1800" b="1" strike="noStrike" spc="-1" dirty="0">
                <a:solidFill>
                  <a:srgbClr val="00B0F0"/>
                </a:solidFill>
                <a:latin typeface="Times New Roman"/>
              </a:rPr>
              <a:t>APEKSHA KA</a:t>
            </a:r>
          </a:p>
          <a:p>
            <a:pPr>
              <a:lnSpc>
                <a:spcPct val="90000"/>
              </a:lnSpc>
              <a:spcBef>
                <a:spcPts val="1001"/>
              </a:spcBef>
            </a:pPr>
            <a:r>
              <a:rPr lang="en-IN" sz="1800" b="1" spc="-1" dirty="0">
                <a:solidFill>
                  <a:srgbClr val="00B0F0"/>
                </a:solidFill>
                <a:latin typeface="Times New Roman"/>
              </a:rPr>
              <a:t>4JN22IS032</a:t>
            </a:r>
            <a:endParaRPr lang="en-IN" sz="1800" b="0" strike="noStrike" spc="-1" dirty="0">
              <a:solidFill>
                <a:srgbClr val="00B0F0"/>
              </a:solidFill>
              <a:latin typeface="Arial"/>
            </a:endParaRPr>
          </a:p>
        </p:txBody>
      </p:sp>
      <p:sp>
        <p:nvSpPr>
          <p:cNvPr id="5" name="CustomShape 6">
            <a:extLst>
              <a:ext uri="{FF2B5EF4-FFF2-40B4-BE49-F238E27FC236}">
                <a16:creationId xmlns:a16="http://schemas.microsoft.com/office/drawing/2014/main" id="{9B200F4A-0C79-39D1-E536-FBF66538771C}"/>
              </a:ext>
            </a:extLst>
          </p:cNvPr>
          <p:cNvSpPr/>
          <p:nvPr/>
        </p:nvSpPr>
        <p:spPr>
          <a:xfrm>
            <a:off x="4226400" y="4672619"/>
            <a:ext cx="3998520" cy="1561653"/>
          </a:xfrm>
          <a:prstGeom prst="rect">
            <a:avLst/>
          </a:prstGeom>
          <a:noFill/>
          <a:ln>
            <a:noFill/>
          </a:ln>
        </p:spPr>
        <p:style>
          <a:lnRef idx="0">
            <a:scrgbClr r="0" g="0" b="0"/>
          </a:lnRef>
          <a:fillRef idx="0">
            <a:scrgbClr r="0" g="0" b="0"/>
          </a:fillRef>
          <a:effectRef idx="0">
            <a:scrgbClr r="0" g="0" b="0"/>
          </a:effectRef>
          <a:fontRef idx="minor"/>
        </p:style>
        <p:txBody>
          <a:bodyPr/>
          <a:lstStyle/>
          <a:p>
            <a:pPr>
              <a:lnSpc>
                <a:spcPct val="90000"/>
              </a:lnSpc>
              <a:spcBef>
                <a:spcPts val="1001"/>
              </a:spcBef>
            </a:pPr>
            <a:r>
              <a:rPr lang="en-IN" sz="2400" b="1" strike="noStrike" spc="-1" dirty="0">
                <a:solidFill>
                  <a:srgbClr val="000000"/>
                </a:solidFill>
                <a:latin typeface="Times New Roman"/>
              </a:rPr>
              <a:t>External Guide:</a:t>
            </a:r>
            <a:endParaRPr lang="en-IN" sz="2400" b="0" strike="noStrike" spc="-1" dirty="0">
              <a:latin typeface="Arial"/>
            </a:endParaRPr>
          </a:p>
          <a:p>
            <a:pPr>
              <a:lnSpc>
                <a:spcPct val="90000"/>
              </a:lnSpc>
              <a:spcBef>
                <a:spcPts val="1001"/>
              </a:spcBef>
            </a:pPr>
            <a:r>
              <a:rPr lang="en-IN" sz="1800" b="1" strike="noStrike" spc="-1" dirty="0">
                <a:solidFill>
                  <a:srgbClr val="00B0F0"/>
                </a:solidFill>
                <a:latin typeface="Times New Roman"/>
              </a:rPr>
              <a:t>Mr. Name of the guide</a:t>
            </a:r>
            <a:endParaRPr lang="en-IN" sz="1800" b="0" strike="noStrike" spc="-1" dirty="0">
              <a:solidFill>
                <a:srgbClr val="00B0F0"/>
              </a:solidFill>
              <a:latin typeface="Arial"/>
            </a:endParaRPr>
          </a:p>
          <a:p>
            <a:pPr>
              <a:lnSpc>
                <a:spcPct val="90000"/>
              </a:lnSpc>
              <a:spcBef>
                <a:spcPts val="1001"/>
              </a:spcBef>
            </a:pPr>
            <a:r>
              <a:rPr lang="en-IN" sz="1800" b="1" strike="noStrike" spc="-1" dirty="0">
                <a:solidFill>
                  <a:srgbClr val="00B0F0"/>
                </a:solidFill>
                <a:latin typeface="Times New Roman"/>
              </a:rPr>
              <a:t>Designation</a:t>
            </a:r>
            <a:endParaRPr lang="en-IN" sz="1800" b="0" strike="noStrike" spc="-1" dirty="0">
              <a:solidFill>
                <a:srgbClr val="00B0F0"/>
              </a:solidFill>
              <a:latin typeface="Arial"/>
            </a:endParaRPr>
          </a:p>
          <a:p>
            <a:pPr>
              <a:lnSpc>
                <a:spcPct val="90000"/>
              </a:lnSpc>
              <a:spcBef>
                <a:spcPts val="1001"/>
              </a:spcBef>
            </a:pPr>
            <a:r>
              <a:rPr lang="en-IN" sz="1800" b="1" strike="noStrike" spc="-1" dirty="0">
                <a:solidFill>
                  <a:srgbClr val="00B0F0"/>
                </a:solidFill>
                <a:latin typeface="Times New Roman"/>
              </a:rPr>
              <a:t>Organization</a:t>
            </a:r>
            <a:endParaRPr lang="en-IN" sz="1800" b="0" strike="noStrike" spc="-1" dirty="0">
              <a:solidFill>
                <a:srgbClr val="00B0F0"/>
              </a:solidFill>
              <a:latin typeface="Arial"/>
            </a:endParaRPr>
          </a:p>
        </p:txBody>
      </p:sp>
      <p:sp>
        <p:nvSpPr>
          <p:cNvPr id="6" name="CustomShape 5">
            <a:extLst>
              <a:ext uri="{FF2B5EF4-FFF2-40B4-BE49-F238E27FC236}">
                <a16:creationId xmlns:a16="http://schemas.microsoft.com/office/drawing/2014/main" id="{383EE6B1-FA9D-541E-D3A0-F32BDCAF25A9}"/>
              </a:ext>
            </a:extLst>
          </p:cNvPr>
          <p:cNvSpPr/>
          <p:nvPr/>
        </p:nvSpPr>
        <p:spPr>
          <a:xfrm>
            <a:off x="8426880" y="4687138"/>
            <a:ext cx="4023360" cy="14176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90000"/>
              </a:lnSpc>
              <a:spcBef>
                <a:spcPts val="1001"/>
              </a:spcBef>
            </a:pPr>
            <a:r>
              <a:rPr lang="en-IN" sz="2400" b="1" strike="noStrike" spc="-1" dirty="0">
                <a:solidFill>
                  <a:srgbClr val="000000"/>
                </a:solidFill>
                <a:latin typeface="Times New Roman"/>
              </a:rPr>
              <a:t>Internal Guide:</a:t>
            </a:r>
            <a:endParaRPr lang="en-IN" sz="2400" b="0" strike="noStrike" spc="-1" dirty="0">
              <a:latin typeface="Arial"/>
            </a:endParaRPr>
          </a:p>
          <a:p>
            <a:pPr>
              <a:lnSpc>
                <a:spcPct val="90000"/>
              </a:lnSpc>
              <a:spcBef>
                <a:spcPts val="1001"/>
              </a:spcBef>
            </a:pPr>
            <a:r>
              <a:rPr lang="en-IN" sz="1800" b="1" spc="-1" dirty="0">
                <a:solidFill>
                  <a:srgbClr val="00B0F0"/>
                </a:solidFill>
                <a:latin typeface="Times New Roman"/>
              </a:rPr>
              <a:t>Mr.</a:t>
            </a:r>
            <a:r>
              <a:rPr lang="en-IN" sz="1800" b="1" strike="noStrike" spc="-1" dirty="0">
                <a:solidFill>
                  <a:srgbClr val="00B0F0"/>
                </a:solidFill>
                <a:latin typeface="Times New Roman"/>
              </a:rPr>
              <a:t> Girish Mantha </a:t>
            </a:r>
            <a:r>
              <a:rPr lang="en-IN" b="1" strike="noStrike" spc="-1" dirty="0">
                <a:solidFill>
                  <a:srgbClr val="00B0F0"/>
                </a:solidFill>
                <a:latin typeface="Times New Roman"/>
              </a:rPr>
              <a:t>B.E, </a:t>
            </a:r>
            <a:r>
              <a:rPr lang="en-IN" b="1" strike="noStrike" spc="-1" dirty="0" err="1">
                <a:solidFill>
                  <a:srgbClr val="00B0F0"/>
                </a:solidFill>
                <a:latin typeface="Times New Roman"/>
              </a:rPr>
              <a:t>M.Tech</a:t>
            </a:r>
            <a:r>
              <a:rPr lang="en-IN" b="1" strike="noStrike" spc="-1" dirty="0">
                <a:solidFill>
                  <a:srgbClr val="00B0F0"/>
                </a:solidFill>
                <a:latin typeface="Times New Roman"/>
              </a:rPr>
              <a:t>.</a:t>
            </a:r>
            <a:endParaRPr lang="en-IN" b="0" strike="noStrike" spc="-1" dirty="0">
              <a:solidFill>
                <a:srgbClr val="00B0F0"/>
              </a:solidFill>
              <a:latin typeface="Arial"/>
            </a:endParaRPr>
          </a:p>
          <a:p>
            <a:pPr>
              <a:lnSpc>
                <a:spcPct val="90000"/>
              </a:lnSpc>
              <a:spcBef>
                <a:spcPts val="1001"/>
              </a:spcBef>
            </a:pPr>
            <a:r>
              <a:rPr lang="en-IN" sz="1800" b="1" strike="noStrike" spc="-1" dirty="0">
                <a:solidFill>
                  <a:srgbClr val="00B0F0"/>
                </a:solidFill>
                <a:latin typeface="Times New Roman"/>
              </a:rPr>
              <a:t>Assistant Professor, Dept. of IS&amp;E.</a:t>
            </a:r>
            <a:endParaRPr lang="en-IN" sz="1800" b="0" strike="noStrike" spc="-1" dirty="0">
              <a:solidFill>
                <a:srgbClr val="00B0F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i="0" u="none" strike="noStrike" cap="none" dirty="0">
                <a:solidFill>
                  <a:srgbClr val="733939"/>
                </a:solidFill>
                <a:latin typeface="Times New Roman" panose="02020603050405020304"/>
                <a:ea typeface="Times New Roman" panose="02020603050405020304"/>
                <a:cs typeface="Times New Roman" panose="02020603050405020304"/>
                <a:sym typeface="Times New Roman" panose="02020603050405020304"/>
              </a:rPr>
              <a:t>Contents</a:t>
            </a:r>
            <a:endParaRPr dirty="0"/>
          </a:p>
        </p:txBody>
      </p:sp>
      <p:cxnSp>
        <p:nvCxnSpPr>
          <p:cNvPr id="132" name="Google Shape;132;p16"/>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p:cNvSpPr txBox="1"/>
          <p:nvPr/>
        </p:nvSpPr>
        <p:spPr>
          <a:xfrm>
            <a:off x="80818" y="956090"/>
            <a:ext cx="11985040" cy="4525963"/>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6"/>
          <p:cNvSpPr txBox="1"/>
          <p:nvPr/>
        </p:nvSpPr>
        <p:spPr>
          <a:xfrm>
            <a:off x="103480" y="945473"/>
            <a:ext cx="11948820" cy="5392462"/>
          </a:xfrm>
          <a:prstGeom prst="rect">
            <a:avLst/>
          </a:prstGeom>
          <a:noFill/>
          <a:ln>
            <a:noFill/>
          </a:ln>
        </p:spPr>
        <p:txBody>
          <a:bodyPr spcFirstLastPara="1" wrap="square" lIns="91425" tIns="45700" rIns="91425" bIns="45700" anchor="t" anchorCtr="0">
            <a:noAutofit/>
          </a:bodyPr>
          <a:lstStyle/>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Introduction</a:t>
            </a:r>
          </a:p>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Company Profile</a:t>
            </a:r>
          </a:p>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About the Company</a:t>
            </a:r>
          </a:p>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Software Tools Used</a:t>
            </a:r>
          </a:p>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Task Performed(details of tasks done)</a:t>
            </a:r>
          </a:p>
          <a:p>
            <a:pPr marL="286110" indent="-285750">
              <a:lnSpc>
                <a:spcPct val="200000"/>
              </a:lnSpc>
              <a:spcBef>
                <a:spcPts val="1001"/>
              </a:spcBef>
              <a:buFont typeface="Arial" panose="020B0604020202020204" pitchFamily="34" charset="0"/>
              <a:buChar char="•"/>
            </a:pPr>
            <a:r>
              <a:rPr lang="en-US" sz="2000" spc="-1" dirty="0">
                <a:latin typeface="Times New Roman" panose="02020603050405020304" pitchFamily="18" charset="0"/>
                <a:cs typeface="Times New Roman" panose="02020603050405020304" pitchFamily="18" charset="0"/>
              </a:rPr>
              <a:t>Reflection notes(details of project with output)</a:t>
            </a:r>
          </a:p>
        </p:txBody>
      </p:sp>
      <p:sp>
        <p:nvSpPr>
          <p:cNvPr id="140" name="Google Shape;140;p16"/>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Output</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8D4F14B1-344A-3003-5CCD-5A570510561A}"/>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4BFD00BE-653B-C21B-7AAC-B60357736B0C}"/>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Introduction</a:t>
            </a:r>
            <a:endParaRPr dirty="0"/>
          </a:p>
        </p:txBody>
      </p:sp>
      <p:cxnSp>
        <p:nvCxnSpPr>
          <p:cNvPr id="132" name="Google Shape;132;p16">
            <a:extLst>
              <a:ext uri="{FF2B5EF4-FFF2-40B4-BE49-F238E27FC236}">
                <a16:creationId xmlns:a16="http://schemas.microsoft.com/office/drawing/2014/main" id="{D1E362F1-6D83-4E8F-412E-3C7998B601A2}"/>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4CFF741B-6A4F-2EE7-298F-658295023C39}"/>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20A8FD76-25B1-74B0-3118-556DD0E7FAF8}"/>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D4361850-8682-E4D8-B330-2A39CEE5619F}"/>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2D64D305-494D-41AF-9EDB-148327A73448}"/>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4D93FC96-EC3E-BA5D-EFE2-DEC79CEB3AC0}"/>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3</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FBCEAD41-C77C-0A01-B1FA-D832D892E835}"/>
              </a:ext>
            </a:extLst>
          </p:cNvPr>
          <p:cNvSpPr txBox="1"/>
          <p:nvPr/>
        </p:nvSpPr>
        <p:spPr>
          <a:xfrm>
            <a:off x="80818" y="956090"/>
            <a:ext cx="11985040" cy="4525963"/>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6">
            <a:extLst>
              <a:ext uri="{FF2B5EF4-FFF2-40B4-BE49-F238E27FC236}">
                <a16:creationId xmlns:a16="http://schemas.microsoft.com/office/drawing/2014/main" id="{A9D16D6C-9C6B-2BF1-E23A-BAE7EB4BF32C}"/>
              </a:ext>
            </a:extLst>
          </p:cNvPr>
          <p:cNvSpPr txBox="1"/>
          <p:nvPr/>
        </p:nvSpPr>
        <p:spPr>
          <a:xfrm>
            <a:off x="103480" y="945473"/>
            <a:ext cx="11948820" cy="5392462"/>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internship focuses on learning Python programming through an online platform that provides structured video lessons and interactive quizzes. It is designed to build a strong foundation in programming concepts and enhance practical skills.</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internship helps in understanding data structures such as lists and dictionaries, improving problem-solving abilities, and applying concepts to real-world scenarios. It also provides hands-on experience through continuous practice and assessments.</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program emphasizes skill development, logical thinking, and industry-oriented learning, preparing students for future technical roles.</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internship also enhances coding efficiency and debugging skills through regular practice.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It builds confidence in implementing Python concepts for academic and real-time projects</a:t>
            </a:r>
            <a:r>
              <a:rPr lang="en-IN" sz="2400" dirty="0">
                <a:latin typeface="Times New Roman" panose="02020603050405020304" pitchFamily="18" charset="0"/>
                <a:cs typeface="Times New Roman" panose="02020603050405020304" pitchFamily="18" charset="0"/>
              </a:rPr>
              <a:t>.</a:t>
            </a:r>
          </a:p>
        </p:txBody>
      </p:sp>
      <p:sp>
        <p:nvSpPr>
          <p:cNvPr id="140" name="Google Shape;140;p16">
            <a:extLst>
              <a:ext uri="{FF2B5EF4-FFF2-40B4-BE49-F238E27FC236}">
                <a16:creationId xmlns:a16="http://schemas.microsoft.com/office/drawing/2014/main" id="{44AE0FED-8A21-A99A-C848-6E0660C08BD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823876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78C6E316-8974-6C91-064F-5C14D00E2ACA}"/>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477BAF7D-8018-4770-C86D-206356FA233F}"/>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Company Profile</a:t>
            </a:r>
            <a:endParaRPr dirty="0"/>
          </a:p>
        </p:txBody>
      </p:sp>
      <p:cxnSp>
        <p:nvCxnSpPr>
          <p:cNvPr id="132" name="Google Shape;132;p16">
            <a:extLst>
              <a:ext uri="{FF2B5EF4-FFF2-40B4-BE49-F238E27FC236}">
                <a16:creationId xmlns:a16="http://schemas.microsoft.com/office/drawing/2014/main" id="{D85CC62A-4440-915C-7F17-EB28C4717415}"/>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23D2D925-9B4A-ECAD-833B-BD0670F10CA4}"/>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282904D3-7F61-2191-82CE-004C5D660C51}"/>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03A3CCC1-D625-AAD7-4F66-D52DEEE4EF03}"/>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002B7011-759C-A3BC-BD39-330A784E8756}"/>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689FF0D8-726F-273C-6F00-76D07820DE61}"/>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4</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57DA9C0A-9985-E995-30A2-DF771B4BB2B8}"/>
              </a:ext>
            </a:extLst>
          </p:cNvPr>
          <p:cNvSpPr txBox="1"/>
          <p:nvPr/>
        </p:nvSpPr>
        <p:spPr>
          <a:xfrm>
            <a:off x="80818" y="956090"/>
            <a:ext cx="11985040" cy="4525963"/>
          </a:xfrm>
          <a:prstGeom prst="rect">
            <a:avLst/>
          </a:prstGeom>
          <a:noFill/>
          <a:ln>
            <a:noFill/>
          </a:ln>
        </p:spPr>
        <p:txBody>
          <a:bodyPr spcFirstLastPara="1" wrap="square" lIns="91425" tIns="45700" rIns="91425" bIns="45700" anchor="t" anchorCtr="0">
            <a:normAutofit fontScale="85000" lnSpcReduction="20000"/>
          </a:bodyPr>
          <a:lstStyle/>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Edutainer is an education-focused online learning platform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Provides skill-based training for students and professionals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Bridges gap between academic knowledge and industry needs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Offers courses in Web Development, Data Science, and more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Focuses on practical learning and real-world applications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Supports career growth through hands-on training </a:t>
            </a:r>
          </a:p>
          <a:p>
            <a:pPr marL="342900" indent="-342900">
              <a:lnSpc>
                <a:spcPct val="20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Provides flexible and industry-oriented learning environment </a:t>
            </a:r>
          </a:p>
          <a:p>
            <a:pPr marL="342900" marR="0" lvl="0" indent="-342900" algn="just" rtl="0">
              <a:lnSpc>
                <a:spcPct val="200000"/>
              </a:lnSpc>
              <a:spcBef>
                <a:spcPts val="0"/>
              </a:spcBef>
              <a:spcAft>
                <a:spcPts val="0"/>
              </a:spcAft>
              <a:buClr>
                <a:schemeClr val="dk1"/>
              </a:buClr>
              <a:buSzPts val="2400"/>
              <a:buFont typeface="Arial" panose="020B0604020202020204" pitchFamily="34" charset="0"/>
              <a:buChar char="•"/>
            </a:pPr>
            <a:endParaRPr sz="2400"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16">
            <a:extLst>
              <a:ext uri="{FF2B5EF4-FFF2-40B4-BE49-F238E27FC236}">
                <a16:creationId xmlns:a16="http://schemas.microsoft.com/office/drawing/2014/main" id="{98A8FFEB-2CC5-C086-DFD3-7BD56E4CA9AA}"/>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229894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364F7278-896D-8774-8920-5C9ACBE3EB96}"/>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9EF2EADD-8954-6B8D-F845-FDDBA2EC42A2}"/>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About the Company</a:t>
            </a:r>
            <a:endParaRPr dirty="0"/>
          </a:p>
        </p:txBody>
      </p:sp>
      <p:cxnSp>
        <p:nvCxnSpPr>
          <p:cNvPr id="132" name="Google Shape;132;p16">
            <a:extLst>
              <a:ext uri="{FF2B5EF4-FFF2-40B4-BE49-F238E27FC236}">
                <a16:creationId xmlns:a16="http://schemas.microsoft.com/office/drawing/2014/main" id="{DF0D4F67-16FB-CCC1-BA4E-9E19EF0BE840}"/>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223ABBE8-87AB-275A-A46F-C3B32F48C78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757D5997-6B4C-B72B-0A8E-8C46FC409D3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E5C10734-D586-F2DD-6455-1A97DB308FF3}"/>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6CE5AE12-41C5-9CB1-4F62-2DD3C29AB442}"/>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C5788244-1AD7-12FE-04A5-6902435D2CAE}"/>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5</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BC27CE73-E24F-E0DA-435B-B985AC9C4C72}"/>
              </a:ext>
            </a:extLst>
          </p:cNvPr>
          <p:cNvSpPr txBox="1"/>
          <p:nvPr/>
        </p:nvSpPr>
        <p:spPr>
          <a:xfrm>
            <a:off x="80818" y="956090"/>
            <a:ext cx="11985040" cy="5206966"/>
          </a:xfrm>
          <a:prstGeom prst="rect">
            <a:avLst/>
          </a:prstGeom>
          <a:noFill/>
          <a:ln>
            <a:noFill/>
          </a:ln>
        </p:spPr>
        <p:txBody>
          <a:bodyPr spcFirstLastPara="1" wrap="square" lIns="91425" tIns="45700" rIns="91425" bIns="45700" anchor="t" anchorCtr="0">
            <a:noAutofit/>
          </a:bodyPr>
          <a:lstStyle/>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Edutainer is an education-focused online platform that provides innovative and practical learning solutions for students and professionals. It offers skill-based training programs designed to enhance knowledge and prepare learners for industry requirements.</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platform focuses on bridging the gap between academic learning and real-world applications by providing courses in areas such as Web Development, Data Science, Digital Marketing, and more. It specializes in educational content development, research, and skill enhancement.</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Edutainer promotes career growth through hands-on projects, practical learning, and flexible training methods, helping students become industry-ready professionals.</a:t>
            </a:r>
          </a:p>
        </p:txBody>
      </p:sp>
      <p:sp>
        <p:nvSpPr>
          <p:cNvPr id="140" name="Google Shape;140;p16">
            <a:extLst>
              <a:ext uri="{FF2B5EF4-FFF2-40B4-BE49-F238E27FC236}">
                <a16:creationId xmlns:a16="http://schemas.microsoft.com/office/drawing/2014/main" id="{45903453-B647-159D-9774-2393CAA8C92A}"/>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b="1"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90523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A8537D50-FA4C-CC06-5129-A6FC3A52FA96}"/>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3775A77C-6954-8AC3-8121-EA380784B856}"/>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Software tools Used</a:t>
            </a:r>
            <a:endParaRPr dirty="0"/>
          </a:p>
        </p:txBody>
      </p:sp>
      <p:cxnSp>
        <p:nvCxnSpPr>
          <p:cNvPr id="132" name="Google Shape;132;p16">
            <a:extLst>
              <a:ext uri="{FF2B5EF4-FFF2-40B4-BE49-F238E27FC236}">
                <a16:creationId xmlns:a16="http://schemas.microsoft.com/office/drawing/2014/main" id="{F734D92F-7DDC-F6A4-FED6-70FC7BEC4B5E}"/>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0D5EFC11-97B7-5C42-BA57-7D91EFFC3398}"/>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5166E2D2-D720-687E-7790-2E8FCB6F4B51}"/>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E655C8BA-5D95-CFD4-A9FA-DD1D435CB80D}"/>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B43917CA-E467-A128-05A7-6815975412F4}"/>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318FF9B1-7D4C-8E60-038C-89F12866FE71}"/>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6</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4D1C4736-52A7-6E95-7124-539EA7DB4431}"/>
              </a:ext>
            </a:extLst>
          </p:cNvPr>
          <p:cNvSpPr txBox="1"/>
          <p:nvPr/>
        </p:nvSpPr>
        <p:spPr>
          <a:xfrm>
            <a:off x="80818" y="970156"/>
            <a:ext cx="11985040" cy="5192900"/>
          </a:xfrm>
          <a:prstGeom prst="rect">
            <a:avLst/>
          </a:prstGeom>
          <a:noFill/>
          <a:ln>
            <a:noFill/>
          </a:ln>
        </p:spPr>
        <p:txBody>
          <a:bodyPr spcFirstLastPara="1" wrap="square" lIns="91425" tIns="45700" rIns="91425" bIns="45700" anchor="t" anchorCtr="0">
            <a:noAutofit/>
          </a:bodyPr>
          <a:lstStyle/>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Python – Used for backend development and application logic</a:t>
            </a:r>
          </a:p>
          <a:p>
            <a:pPr lvl="1"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HTML, CSS, JavaScript – Used for building responsive frontend interfaces</a:t>
            </a:r>
          </a:p>
          <a:p>
            <a:pPr lvl="1"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Flask / Django – Frameworks for developing web applications</a:t>
            </a:r>
          </a:p>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MySQL / SQLite – Database for storing and managing application data</a:t>
            </a:r>
          </a:p>
          <a:p>
            <a:pPr lvl="1"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REST APIs – Used for communication between frontend and backend</a:t>
            </a:r>
          </a:p>
          <a:p>
            <a:pPr lvl="1" algn="just">
              <a:lnSpc>
                <a:spcPct val="150000"/>
              </a:lnSpc>
            </a:pPr>
            <a:r>
              <a:rPr lang="en-US" altLang="en-US" sz="2000" b="1"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rPr>
              <a:t>Technologies Used:</a:t>
            </a:r>
          </a:p>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Visual Studio Code / PyCharm - Development and debugging environment e</a:t>
            </a:r>
          </a:p>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⁠Postman - API testing and validation–</a:t>
            </a:r>
          </a:p>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Git &amp; GitHub - Version control and code management</a:t>
            </a:r>
          </a:p>
          <a:p>
            <a:pPr indent="-180000" algn="just">
              <a:lnSpc>
                <a:spcPct val="150000"/>
              </a:lnSpc>
              <a:buFont typeface="Arial" panose="020B0604020202020204" pitchFamily="34" charset="0"/>
              <a:buChar char="•"/>
            </a:pPr>
            <a:r>
              <a:rPr lang="en-US" altLang="en-US" sz="2000" dirty="0">
                <a:solidFill>
                  <a:schemeClr val="tx1">
                    <a:lumMod val="85000"/>
                    <a:lumOff val="15000"/>
                  </a:schemeClr>
                </a:solidFill>
                <a:latin typeface="Times New Roman" panose="02020603050405020304" pitchFamily="18" charset="0"/>
                <a:cs typeface="Times New Roman" panose="02020603050405020304" pitchFamily="18" charset="0"/>
              </a:rPr>
              <a:t>API testing and validation Git &amp; GitHub </a:t>
            </a:r>
            <a:endParaRPr lang="en-US" altLang="en-US" sz="2000" dirty="0">
              <a:solidFill>
                <a:schemeClr val="tx1">
                  <a:lumMod val="85000"/>
                  <a:lumOff val="15000"/>
                </a:schemeClr>
              </a:solidFill>
              <a:latin typeface="Times New Roman" panose="02020603050405020304" pitchFamily="18" charset="0"/>
              <a:ea typeface="Merriweather" panose="00000500000000000000"/>
              <a:cs typeface="Times New Roman" panose="02020603050405020304" pitchFamily="18" charset="0"/>
              <a:sym typeface="Merriweather" panose="00000500000000000000"/>
            </a:endParaRPr>
          </a:p>
        </p:txBody>
      </p:sp>
      <p:sp>
        <p:nvSpPr>
          <p:cNvPr id="140" name="Google Shape;140;p16">
            <a:extLst>
              <a:ext uri="{FF2B5EF4-FFF2-40B4-BE49-F238E27FC236}">
                <a16:creationId xmlns:a16="http://schemas.microsoft.com/office/drawing/2014/main" id="{ADF2B144-131F-6C13-18B7-2B1B1E6B56A8}"/>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2394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Task Performed</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7</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Frontend Development</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Designed basic UI using </a:t>
            </a:r>
            <a:r>
              <a:rPr lang="en-US" altLang="en-US" sz="1600" dirty="0" err="1">
                <a:latin typeface="Times New Roman" panose="02020603050405020304" pitchFamily="18" charset="0"/>
                <a:cs typeface="Times New Roman" panose="02020603050405020304" pitchFamily="18" charset="0"/>
                <a:sym typeface="Merriweather" panose="00000500000000000000"/>
              </a:rPr>
              <a:t>HTML,CSS,Javascript</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Developed responsive web pages</a:t>
            </a: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Backend Development(Python)</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Implemented backend logic using Python</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Handled data processing and server-side operations</a:t>
            </a:r>
          </a:p>
          <a:p>
            <a:pPr>
              <a:lnSpc>
                <a:spcPct val="150000"/>
              </a:lnSpc>
            </a:pPr>
            <a:r>
              <a:rPr lang="en-IN" sz="1800" b="1" dirty="0">
                <a:latin typeface="Times New Roman" panose="02020603050405020304" pitchFamily="18" charset="0"/>
                <a:cs typeface="Times New Roman" panose="02020603050405020304" pitchFamily="18" charset="0"/>
              </a:rPr>
              <a:t>Backend Development (Django)</a:t>
            </a: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Developed backend using Django framework </a:t>
            </a: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Handled routing, views, and data processing </a:t>
            </a: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Connected frontend with backend using Django templates</a:t>
            </a:r>
          </a:p>
          <a:p>
            <a:pPr algn="just">
              <a:lnSpc>
                <a:spcPct val="150000"/>
              </a:lnSpc>
            </a:pPr>
            <a:r>
              <a:rPr lang="en-IN" sz="1800" b="1" dirty="0">
                <a:latin typeface="Times New Roman" panose="02020603050405020304" pitchFamily="18" charset="0"/>
                <a:cs typeface="Times New Roman" panose="02020603050405020304" pitchFamily="18" charset="0"/>
              </a:rPr>
              <a:t>Database Management</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Performed CRUD operations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Managed and structured data efficiently</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Task Performed</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8</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Development environment setup</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Configured VS Code and local Django project environment</a:t>
            </a:r>
            <a:r>
              <a:rPr lang="en-US" altLang="en-US" sz="1600" dirty="0" err="1">
                <a:latin typeface="Times New Roman" panose="02020603050405020304" pitchFamily="18" charset="0"/>
                <a:cs typeface="Times New Roman" panose="02020603050405020304" pitchFamily="18" charset="0"/>
                <a:sym typeface="Merriweather" panose="00000500000000000000"/>
              </a:rPr>
              <a:t>Learned and practiced HTML, CSS, JavaScript basics</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Studied Python programming fundamentals</a:t>
            </a: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Worked with Django views, templates, and URL routing</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Created responsive pages using Stitch/Tailwind templates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Connected frontend pages with Django backend routes</a:t>
            </a:r>
          </a:p>
          <a:p>
            <a:pPr>
              <a:lnSpc>
                <a:spcPct val="150000"/>
              </a:lnSpc>
            </a:pPr>
            <a:r>
              <a:rPr lang="en-IN" sz="1800" b="1" dirty="0">
                <a:latin typeface="Times New Roman" panose="02020603050405020304" pitchFamily="18" charset="0"/>
                <a:cs typeface="Times New Roman" panose="02020603050405020304" pitchFamily="18" charset="0"/>
              </a:rPr>
              <a:t>Used SQLite database for development and testing</a:t>
            </a: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Maintained project files inside banking_system folder</a:t>
            </a: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Task Performed</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9</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Frontend Development</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Designed login, register, accounts, summary and transfer screens</a:t>
            </a:r>
            <a:r>
              <a:rPr lang="en-US" altLang="en-US" sz="1600" dirty="0" err="1">
                <a:latin typeface="Times New Roman" panose="02020603050405020304" pitchFamily="18" charset="0"/>
                <a:cs typeface="Times New Roman" panose="02020603050405020304" pitchFamily="18" charset="0"/>
                <a:sym typeface="Merriweather" panose="00000500000000000000"/>
              </a:rPr>
              <a:t>Created account details page with transaction history section</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Added add-account, edit-account, transactions and no-account pages</a:t>
            </a: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Backend Development</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Implemented Django URL mapping for all project pages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Handled login/register flow and dashboard redirection</a:t>
            </a:r>
          </a:p>
          <a:p>
            <a:pPr>
              <a:lnSpc>
                <a:spcPct val="150000"/>
              </a:lnSpc>
            </a:pPr>
            <a:r>
              <a:rPr lang="en-IN" sz="1800" b="1" dirty="0">
                <a:latin typeface="Times New Roman" panose="02020603050405020304" pitchFamily="18" charset="0"/>
                <a:cs typeface="Times New Roman" panose="02020603050405020304" pitchFamily="18" charset="0"/>
              </a:rPr>
              <a:t>Created add account logic with CSRF-enabled form submission</a:t>
            </a: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Debugged page navigation and button actions</a:t>
            </a: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Task Performed</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10</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Database and API Work</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Created custom user model with email, name and phone fields</a:t>
            </a:r>
            <a:r>
              <a:rPr lang="en-US" altLang="en-US" sz="1600" dirty="0" err="1">
                <a:latin typeface="Times New Roman" panose="02020603050405020304" pitchFamily="18" charset="0"/>
                <a:cs typeface="Times New Roman" panose="02020603050405020304" pitchFamily="18" charset="0"/>
                <a:sym typeface="Merriweather" panose="00000500000000000000"/>
              </a:rPr>
              <a:t>Created BankAccount model with account number, type and balance</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Created Transaction model for deposit, withdraw and transfer records</a:t>
            </a: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Implemented REST API for bank accounts and account details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Added API actions for deposit, withdraw, transfer and history</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Tested backend routes using local Django development server</a:t>
            </a:r>
          </a:p>
          <a:p>
            <a:pPr>
              <a:lnSpc>
                <a:spcPct val="150000"/>
              </a:lnSpc>
            </a:pPr>
            <a:r>
              <a:rPr lang="en-IN" sz="1800" b="1" dirty="0">
                <a:latin typeface="Times New Roman" panose="02020603050405020304" pitchFamily="18" charset="0"/>
                <a:cs typeface="Times New Roman" panose="02020603050405020304" pitchFamily="18" charset="0"/>
              </a:rPr>
              <a:t>Improved UI behavior such as transaction pagination</a:t>
            </a: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Prepared project for future database-driven improvements</a:t>
            </a: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Task Performed</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11</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Project Developed: Banking System Web Application</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Developed a web-based banking system during the internship</a:t>
            </a:r>
            <a:r>
              <a:rPr lang="en-US" altLang="en-US" sz="1600" dirty="0" err="1">
                <a:latin typeface="Times New Roman" panose="02020603050405020304" pitchFamily="18" charset="0"/>
                <a:cs typeface="Times New Roman" panose="02020603050405020304" pitchFamily="18" charset="0"/>
                <a:sym typeface="Merriweather" panose="00000500000000000000"/>
              </a:rPr>
              <a:t>The project allows users to login, register and view accounts</a:t>
            </a: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Users can open account details, view transaction history and summary</a:t>
            </a: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The system includes transfer money and add transaction interfaces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No-account page is available for users without account records</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project helped me understand full-stack web development</a:t>
            </a:r>
          </a:p>
          <a:p>
            <a:pPr>
              <a:lnSpc>
                <a:spcPct val="150000"/>
              </a:lnSpc>
            </a:pPr>
            <a:r>
              <a:rPr lang="en-IN" sz="1800" b="1" dirty="0">
                <a:latin typeface="Times New Roman" panose="02020603050405020304" pitchFamily="18" charset="0"/>
                <a:cs typeface="Times New Roman" panose="02020603050405020304" pitchFamily="18" charset="0"/>
              </a:rPr>
              <a:t>It improved my confidence in Django backend and UI integration</a:t>
            </a: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8D4F14B1-344A-3003-5CCD-5A570510561A}"/>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4BFD00BE-653B-C21B-7AAC-B60357736B0C}"/>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Reflection Notes</a:t>
            </a:r>
            <a:endParaRPr dirty="0"/>
          </a:p>
        </p:txBody>
      </p:sp>
      <p:cxnSp>
        <p:nvCxnSpPr>
          <p:cNvPr id="132" name="Google Shape;132;p16">
            <a:extLst>
              <a:ext uri="{FF2B5EF4-FFF2-40B4-BE49-F238E27FC236}">
                <a16:creationId xmlns:a16="http://schemas.microsoft.com/office/drawing/2014/main" id="{D1E362F1-6D83-4E8F-412E-3C7998B601A2}"/>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4CFF741B-6A4F-2EE7-298F-658295023C39}"/>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20A8FD76-25B1-74B0-3118-556DD0E7FAF8}"/>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D4361850-8682-E4D8-B330-2A39CEE5619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2D64D305-494D-41AF-9EDB-148327A73448}"/>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07/05/2026</a:t>
            </a:r>
            <a:endParaRPr sz="1600" b="1" dirty="0">
              <a:solidFill>
                <a:srgbClr val="0070C0"/>
              </a:solidFill>
            </a:endParaRPr>
          </a:p>
        </p:txBody>
      </p:sp>
      <p:sp>
        <p:nvSpPr>
          <p:cNvPr id="137" name="Google Shape;137;p16">
            <a:extLst>
              <a:ext uri="{FF2B5EF4-FFF2-40B4-BE49-F238E27FC236}">
                <a16:creationId xmlns:a16="http://schemas.microsoft.com/office/drawing/2014/main" id="{4D93FC96-EC3E-BA5D-EFE2-DEC79CEB3AC0}"/>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12</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FBCEAD41-C77C-0A01-B1FA-D832D892E835}"/>
              </a:ext>
            </a:extLst>
          </p:cNvPr>
          <p:cNvSpPr txBox="1"/>
          <p:nvPr/>
        </p:nvSpPr>
        <p:spPr>
          <a:xfrm>
            <a:off x="80818" y="956090"/>
            <a:ext cx="11985040" cy="4525963"/>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6">
            <a:extLst>
              <a:ext uri="{FF2B5EF4-FFF2-40B4-BE49-F238E27FC236}">
                <a16:creationId xmlns:a16="http://schemas.microsoft.com/office/drawing/2014/main" id="{A9D16D6C-9C6B-2BF1-E23A-BAE7EB4BF32C}"/>
              </a:ext>
            </a:extLst>
          </p:cNvPr>
          <p:cNvSpPr txBox="1"/>
          <p:nvPr/>
        </p:nvSpPr>
        <p:spPr>
          <a:xfrm>
            <a:off x="103480" y="945473"/>
            <a:ext cx="11948820" cy="5392462"/>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Details of Project with Output:</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Banking System Web Application is designed to provide a secure and user-friendly digital banking experience. It contains modules such as login, registration, account viewing, account details, account summary, transfer money, add transaction, edit account, add account and no-account empty state.</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was built using Django for backend routing and logic, SQLite for development database storage, and Stitch templates for the frontend interface. This helped me learn how frontend screens and backend views work together in a real web application.</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Through this project, I gained practical exposure to page routing, form submission, model design, API endpoints and debugging frontend-backend integration.</a:t>
            </a:r>
          </a:p>
        </p:txBody>
      </p:sp>
      <p:sp>
        <p:nvSpPr>
          <p:cNvPr id="140" name="Google Shape;140;p16">
            <a:extLst>
              <a:ext uri="{FF2B5EF4-FFF2-40B4-BE49-F238E27FC236}">
                <a16:creationId xmlns:a16="http://schemas.microsoft.com/office/drawing/2014/main" id="{44AE0FED-8A21-A99A-C848-6E0660C08BD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823876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Reflection Notes</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13</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67566" y="970156"/>
            <a:ext cx="11939377" cy="5311946"/>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OBJECTIVES:</a:t>
            </a: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sym typeface="Merriweather" panose="00000500000000000000"/>
              </a:rPr>
              <a:t>To create a clean login and registration workflow </a:t>
            </a: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sym typeface="Merriweather" panose="00000500000000000000"/>
              </a:rPr>
              <a:t>To allow users to view their bank accounts in a dashboard</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show account details and transaction history for each account</a:t>
            </a:r>
            <a:endParaRPr lang="en-IN" sz="2000" i="1"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sym typeface="Merriweather" panose="00000500000000000000"/>
              </a:rPr>
              <a:t>To provide pages for adding and editing account information</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create transfer money and add transaction workflows</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implement a no-account page for empty account situations</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connect Django backend routes with Stitch frontend templates</a:t>
            </a: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improve practical knowledge of full-stack web development</a:t>
            </a:r>
          </a:p>
          <a:p>
            <a:pPr>
              <a:lnSpc>
                <a:spcPct val="150000"/>
              </a:lnSpc>
            </a:pPr>
            <a:r>
              <a:rPr lang="en-IN" sz="1600" dirty="0">
                <a:latin typeface="Times New Roman" panose="02020603050405020304" pitchFamily="18" charset="0"/>
                <a:cs typeface="Times New Roman" panose="02020603050405020304" pitchFamily="18" charset="0"/>
              </a:rPr>
              <a:t>                            </a:t>
            </a: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Reflection Notes</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14</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2400" b="1" dirty="0">
                <a:latin typeface="Times New Roman" panose="02020603050405020304" pitchFamily="18" charset="0"/>
                <a:cs typeface="Times New Roman" panose="02020603050405020304" pitchFamily="18" charset="0"/>
                <a:sym typeface="Merriweather" panose="00000500000000000000"/>
              </a:rPr>
              <a:t>IMPLEMENTATION:</a:t>
            </a:r>
          </a:p>
          <a:p>
            <a:pPr indent="-18000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sym typeface="Merriweather" panose="00000500000000000000"/>
              </a:rPr>
              <a:t>1. Frontend Development (User Interface):</a:t>
            </a:r>
            <a:r>
              <a:rPr lang="en-US" altLang="en-US" sz="2000" dirty="0" err="1">
                <a:latin typeface="Times New Roman" panose="02020603050405020304" pitchFamily="18" charset="0"/>
                <a:cs typeface="Times New Roman" panose="02020603050405020304" pitchFamily="18" charset="0"/>
                <a:sym typeface="Merriweather" panose="00000500000000000000"/>
              </a:rPr>
              <a:t>Built pages using Stitch-generated HTML templates and Tailwind CSS</a:t>
            </a:r>
            <a:endParaRPr lang="en-US" altLang="en-US" sz="20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Created responsive dark-mode UI for banking workflows</a:t>
            </a: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gn="just">
              <a:lnSpc>
                <a:spcPct val="150000"/>
              </a:lnSpc>
            </a:pPr>
            <a:r>
              <a:rPr lang="en-US" altLang="en-US" sz="2000" b="1" dirty="0">
                <a:latin typeface="Times New Roman" panose="02020603050405020304" pitchFamily="18" charset="0"/>
                <a:cs typeface="Times New Roman" panose="02020603050405020304" pitchFamily="18" charset="0"/>
                <a:sym typeface="Merriweather" panose="00000500000000000000"/>
              </a:rPr>
              <a:t>Added buttons, sidebars, back actions, logout actions and pagination</a:t>
            </a: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2. Backend Development (Django):</a:t>
            </a: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Created page views for login, dashboard, accounts and transactions</a:t>
            </a: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Mapped clean URLs for each page using Django url patterns</a:t>
            </a:r>
            <a:endParaRPr lang="en-IN" sz="20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Connected form actions and navigation to backend routes</a:t>
            </a: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Reflection Notes</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15</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2000" b="1" dirty="0">
                <a:latin typeface="Times New Roman" panose="02020603050405020304" pitchFamily="18" charset="0"/>
                <a:cs typeface="Times New Roman" panose="02020603050405020304" pitchFamily="18" charset="0"/>
                <a:sym typeface="Merriweather" panose="00000500000000000000"/>
              </a:rPr>
              <a:t>3. Database Setup:</a:t>
            </a:r>
          </a:p>
          <a:p>
            <a:pPr indent="-18000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sym typeface="Merriweather" panose="00000500000000000000"/>
              </a:rPr>
              <a:t>Used SQLite during development for storing application data</a:t>
            </a:r>
            <a:r>
              <a:rPr lang="en-US" altLang="en-US" sz="2000" dirty="0" err="1">
                <a:latin typeface="Times New Roman" panose="02020603050405020304" pitchFamily="18" charset="0"/>
                <a:cs typeface="Times New Roman" panose="02020603050405020304" pitchFamily="18" charset="0"/>
                <a:sym typeface="Merriweather" panose="00000500000000000000"/>
              </a:rPr>
              <a:t>Designed custom User, BankAccount and Transaction models</a:t>
            </a:r>
            <a:endParaRPr lang="en-US" altLang="en-US" sz="20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Linked bank accounts to users using Django foreign key relationship</a:t>
            </a:r>
          </a:p>
          <a:p>
            <a:pPr indent="-180000" algn="just">
              <a:lnSpc>
                <a:spcPct val="150000"/>
              </a:lnSpc>
              <a:buFont typeface="Arial" panose="020B0604020202020204" pitchFamily="34" charset="0"/>
              <a:buChar char="•"/>
            </a:pPr>
            <a:endParaRPr lang="en-IN" sz="2000" i="1" dirty="0">
              <a:latin typeface="Times New Roman" panose="02020603050405020304" pitchFamily="18" charset="0"/>
              <a:cs typeface="Times New Roman" panose="02020603050405020304" pitchFamily="18" charset="0"/>
            </a:endParaRPr>
          </a:p>
          <a:p>
            <a:pPr algn="just">
              <a:lnSpc>
                <a:spcPct val="150000"/>
              </a:lnSpc>
            </a:pPr>
            <a:r>
              <a:rPr lang="en-US" altLang="en-US" sz="2000" b="1" dirty="0">
                <a:latin typeface="Times New Roman" panose="02020603050405020304" pitchFamily="18" charset="0"/>
                <a:cs typeface="Times New Roman" panose="02020603050405020304" pitchFamily="18" charset="0"/>
                <a:sym typeface="Merriweather" panose="00000500000000000000"/>
              </a:rPr>
              <a:t>4. API and Banking Logic:</a:t>
            </a: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Implemented REST API endpoints using Django REST Framework</a:t>
            </a:r>
          </a:p>
          <a:p>
            <a:pPr indent="-1800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Added logic for deposit, withdraw, transfer and transaction history</a:t>
            </a:r>
          </a:p>
          <a:p>
            <a:pPr indent="-18000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5. Testing and Debugging:</a:t>
            </a:r>
            <a:endParaRPr lang="en-IN" sz="20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Debugged wrong redirects, broken buttons and pagination issues</a:t>
            </a:r>
          </a:p>
          <a:p>
            <a:pPr marL="10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sz="2000"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16</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1: Sign in Page</a:t>
            </a:r>
          </a:p>
          <a:p>
            <a:pPr algn="just">
              <a:lnSpc>
                <a:spcPct val="150000"/>
              </a:lnSpc>
            </a:pPr>
            <a:r>
              <a:rPr lang="en-IN" sz="1600" dirty="0">
                <a:latin typeface="Times New Roman" panose="02020603050405020304" pitchFamily="18" charset="0"/>
                <a:cs typeface="Times New Roman" panose="02020603050405020304" pitchFamily="18" charset="0"/>
              </a:rPr>
              <a:t>The Sign In page allows users to log in using their registered phone number and password and redirects them to the dashboard after successful login.</a:t>
            </a: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E2B085BD-9129-4AC6-9FD1-98AC5C1FB86F}"/>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04D754AB-8134-FA5E-A7D2-BF0B5040BDDB}"/>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BBE78978-BA80-FB66-FA85-C476300DAD11}"/>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96FAA862-4D55-0D70-3934-F3143E2CF235}"/>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85DF7EEB-6C0A-3742-363A-FAB69E7095C7}"/>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562D9A65-1C38-5AE7-B2BD-B0875E202E62}"/>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552A8ACB-EC43-B6A3-5D96-CA61623F91CE}"/>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20C9C8ED-6E9A-A785-0EAF-5CA3F9610A55}"/>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17</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E281123E-F721-ED7C-5DED-113F175E6F41}"/>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1: Login Page</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User can enter registered phone number and password Successful login opens the dashboard/account view</a:t>
            </a: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61CB4488-25D1-48ED-9706-C89B1A6C4B02}"/>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422727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18</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2: View Accounts Page</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Displays account cards with account type, balance and details button Clicking any account card opens account details page</a:t>
            </a: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19</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3: Account Details Page</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Shows balance, account number, account type and transaction history Includes Add Transaction button and working transaction pagination</a:t>
            </a: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20</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4: Add Account and Edit Account Pages</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Add Account page collects account details and initial balance Edit Account page allows updating account preferences/details</a:t>
            </a: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9B8F97C-8371-B05C-0740-E3138AD5BE07}"/>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1E4ED68C-9D90-9B70-B5AD-204C49926778}"/>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Output</a:t>
            </a:r>
            <a:endParaRPr dirty="0"/>
          </a:p>
        </p:txBody>
      </p:sp>
      <p:cxnSp>
        <p:nvCxnSpPr>
          <p:cNvPr id="132" name="Google Shape;132;p16">
            <a:extLst>
              <a:ext uri="{FF2B5EF4-FFF2-40B4-BE49-F238E27FC236}">
                <a16:creationId xmlns:a16="http://schemas.microsoft.com/office/drawing/2014/main" id="{956D6F58-EB91-C436-ECC7-5F62F9FA4253}"/>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74274272-F652-E183-28C5-CEFF896F70BF}"/>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EAB1E0D9-2D7B-C651-73AC-B00CE65A581D}"/>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A5EDEA69-DAAA-7ED8-F93F-BA184418FC8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0D13DBD-81AD-F38A-D7D2-5F24C25912A5}"/>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ED0944E4-3A82-EE39-3B2E-D0D43441DACB}"/>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21</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AFBC7F86-33CE-2AE5-153A-E952BC8CE1DF}"/>
              </a:ext>
            </a:extLst>
          </p:cNvPr>
          <p:cNvSpPr txBox="1"/>
          <p:nvPr/>
        </p:nvSpPr>
        <p:spPr>
          <a:xfrm>
            <a:off x="80818" y="970156"/>
            <a:ext cx="11985040" cy="5645178"/>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1800" b="1" dirty="0">
                <a:latin typeface="Times New Roman" panose="02020603050405020304" pitchFamily="18" charset="0"/>
                <a:cs typeface="Times New Roman" panose="02020603050405020304" pitchFamily="18" charset="0"/>
                <a:sym typeface="Merriweather" panose="00000500000000000000"/>
              </a:rPr>
              <a:t>Snapshot 5: Transfer, Summary and No Account Pages</a:t>
            </a:r>
          </a:p>
          <a:p>
            <a:pPr indent="-180000" algn="just">
              <a:lnSpc>
                <a:spcPct val="150000"/>
              </a:lnSpc>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sym typeface="Merriweather" panose="00000500000000000000"/>
              </a:rPr>
              <a:t>Transfer page provides money transfer workflow Summary page shows combined banking overview</a:t>
            </a:r>
          </a:p>
          <a:p>
            <a:pPr indent="-18000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Account page appears as a separate empty-state page</a:t>
            </a:r>
            <a:endParaRPr lang="en-IN" sz="1600" i="1" dirty="0">
              <a:latin typeface="Times New Roman" panose="02020603050405020304" pitchFamily="18" charset="0"/>
              <a:cs typeface="Times New Roman" panose="02020603050405020304" pitchFamily="18" charset="0"/>
            </a:endParaRPr>
          </a:p>
          <a:p>
            <a:pPr algn="just">
              <a:lnSpc>
                <a:spcPct val="150000"/>
              </a:lnSpc>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600" i="1" dirty="0">
              <a:latin typeface="Times New Roman" panose="02020603050405020304" pitchFamily="18" charset="0"/>
              <a:cs typeface="Times New Roman" panose="02020603050405020304" pitchFamily="18" charset="0"/>
            </a:endParaRPr>
          </a:p>
          <a:p>
            <a:pPr>
              <a:lnSpc>
                <a:spcPct val="150000"/>
              </a:lnSpc>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105750" indent="-285750">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indent="-180000" algn="just">
              <a:lnSpc>
                <a:spcPct val="150000"/>
              </a:lnSpc>
              <a:buFont typeface="Arial" panose="020B0604020202020204" pitchFamily="34" charset="0"/>
              <a:buChar char="•"/>
            </a:pPr>
            <a:endParaRPr lang="en-US" altLang="en-US" sz="1600" dirty="0">
              <a:latin typeface="Times New Roman" panose="02020603050405020304" pitchFamily="18" charset="0"/>
              <a:cs typeface="Times New Roman" panose="02020603050405020304" pitchFamily="18" charset="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FBD07910-8BF8-7421-ADD6-73CCC56D208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807497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8D4F14B1-344A-3003-5CCD-5A570510561A}"/>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4BFD00BE-653B-C21B-7AAC-B60357736B0C}"/>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Conclusion</a:t>
            </a:r>
            <a:endParaRPr dirty="0"/>
          </a:p>
        </p:txBody>
      </p:sp>
      <p:cxnSp>
        <p:nvCxnSpPr>
          <p:cNvPr id="132" name="Google Shape;132;p16">
            <a:extLst>
              <a:ext uri="{FF2B5EF4-FFF2-40B4-BE49-F238E27FC236}">
                <a16:creationId xmlns:a16="http://schemas.microsoft.com/office/drawing/2014/main" id="{D1E362F1-6D83-4E8F-412E-3C7998B601A2}"/>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4CFF741B-6A4F-2EE7-298F-658295023C39}"/>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20A8FD76-25B1-74B0-3118-556DD0E7FAF8}"/>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D4361850-8682-E4D8-B330-2A39CEE5619F}"/>
              </a:ext>
            </a:extLst>
          </p:cNvPr>
          <p:cNvPicPr preferRelativeResize="0"/>
          <p:nvPr/>
        </p:nvPicPr>
        <p:blipFill rotWithShape="1">
          <a:blip r:embed="rId2"/>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2D64D305-494D-41AF-9EDB-148327A73448}"/>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4D93FC96-EC3E-BA5D-EFE2-DEC79CEB3AC0}"/>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22</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FBCEAD41-C77C-0A01-B1FA-D832D892E835}"/>
              </a:ext>
            </a:extLst>
          </p:cNvPr>
          <p:cNvSpPr txBox="1"/>
          <p:nvPr/>
        </p:nvSpPr>
        <p:spPr>
          <a:xfrm>
            <a:off x="80818" y="956090"/>
            <a:ext cx="11985040" cy="4525963"/>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6">
            <a:extLst>
              <a:ext uri="{FF2B5EF4-FFF2-40B4-BE49-F238E27FC236}">
                <a16:creationId xmlns:a16="http://schemas.microsoft.com/office/drawing/2014/main" id="{A9D16D6C-9C6B-2BF1-E23A-BAE7EB4BF32C}"/>
              </a:ext>
            </a:extLst>
          </p:cNvPr>
          <p:cNvSpPr txBox="1"/>
          <p:nvPr/>
        </p:nvSpPr>
        <p:spPr>
          <a:xfrm>
            <a:off x="103480" y="945473"/>
            <a:ext cx="11948820" cy="5392462"/>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Edutainer Web Development Internship helped me improve my technical and practical skills in frontend and backend development. I learned Python, HTML, CSS, JavaScript, Django, database handling and API concepts through continuous practice and project work.</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Developing the Banking System Web Application gave me hands-on experience in creating real web pages, connecting them with Django views, designing URL routes, managing account data and debugging user flow issues.</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Overall, this internship increased my confidence, improved my problem-solving ability and prepared me for future projects in full-stack web development.</a:t>
            </a:r>
          </a:p>
          <a:p>
            <a:pPr marL="342900" indent="-342900" algn="just">
              <a:lnSpc>
                <a:spcPct val="150000"/>
              </a:lnSpc>
              <a:buFont typeface="Arial" panose="020B0604020202020204" pitchFamily="34" charset="0"/>
              <a:buChar char="•"/>
            </a:pP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140" name="Google Shape;140;p16">
            <a:extLst>
              <a:ext uri="{FF2B5EF4-FFF2-40B4-BE49-F238E27FC236}">
                <a16:creationId xmlns:a16="http://schemas.microsoft.com/office/drawing/2014/main" id="{44AE0FED-8A21-A99A-C848-6E0660C08BDB}"/>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823876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DA4092DE-AE86-81FC-2705-6772A3581C75}"/>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E86B7243-736C-E190-CE78-222E7EEBAD05}"/>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r>
              <a:rPr lang="en-US" sz="4000" b="1" dirty="0">
                <a:solidFill>
                  <a:srgbClr val="733939"/>
                </a:solidFill>
                <a:latin typeface="Times New Roman" panose="02020603050405020304"/>
                <a:cs typeface="Times New Roman" panose="02020603050405020304"/>
                <a:sym typeface="Times New Roman" panose="02020603050405020304"/>
              </a:rPr>
              <a:t>Reference</a:t>
            </a:r>
            <a:endParaRPr dirty="0"/>
          </a:p>
        </p:txBody>
      </p:sp>
      <p:cxnSp>
        <p:nvCxnSpPr>
          <p:cNvPr id="132" name="Google Shape;132;p16">
            <a:extLst>
              <a:ext uri="{FF2B5EF4-FFF2-40B4-BE49-F238E27FC236}">
                <a16:creationId xmlns:a16="http://schemas.microsoft.com/office/drawing/2014/main" id="{FB1A0941-D8D4-3572-C56E-C910126EBA6B}"/>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A9C11E8F-073F-AB5F-22E4-CBD94763466A}"/>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25B73742-6A6B-B205-39F4-3718F799737B}"/>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B5046D08-96D6-7582-124E-A7F85FC11F77}"/>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9A0EF312-88A9-0462-9D0C-CA2EB0399D4F}"/>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091CA827-99CA-1FF7-6B1B-1220294A2C23}"/>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23</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F21704BE-4A4B-E457-1CB5-421283EE44A3}"/>
              </a:ext>
            </a:extLst>
          </p:cNvPr>
          <p:cNvSpPr txBox="1"/>
          <p:nvPr/>
        </p:nvSpPr>
        <p:spPr>
          <a:xfrm>
            <a:off x="71668" y="786102"/>
            <a:ext cx="11985040" cy="5645178"/>
          </a:xfrm>
          <a:prstGeom prst="rect">
            <a:avLst/>
          </a:prstGeom>
          <a:noFill/>
          <a:ln>
            <a:noFill/>
          </a:ln>
        </p:spPr>
        <p:txBody>
          <a:bodyPr spcFirstLastPara="1" wrap="square" lIns="91425" tIns="45700" rIns="91425" bIns="45700" anchor="t" anchorCtr="0">
            <a:noAutofit/>
          </a:bodyPr>
          <a:lstStyle/>
          <a:p>
            <a:pPr indent="-180000" algn="just">
              <a:lnSpc>
                <a:spcPct val="150000"/>
              </a:lnSpc>
              <a:buFont typeface="Arial" panose="020B0604020202020204" pitchFamily="34" charset="0"/>
              <a:buChar char="•"/>
            </a:pPr>
            <a:endParaRPr lang="en-US" altLang="en-US" dirty="0">
              <a:sym typeface="Merriweather" panose="00000500000000000000"/>
              <a:hlinkClick r:id="rId4"/>
            </a:endParaRPr>
          </a:p>
          <a:p>
            <a:pPr indent="-180000" algn="just">
              <a:lnSpc>
                <a:spcPct val="150000"/>
              </a:lnSpc>
              <a:buFont typeface="Arial" panose="020B0604020202020204" pitchFamily="34" charset="0"/>
              <a:buChar char="•"/>
            </a:pPr>
            <a:r>
              <a:rPr lang="en-US" altLang="en-US" dirty="0">
                <a:sym typeface="Merriweather" panose="00000500000000000000"/>
                <a:hlinkClick r:id="rId4"/>
              </a:rPr>
              <a:t>https://www.internship.edutainer.in</a:t>
            </a:r>
            <a:r>
              <a:rPr lang="en-US" altLang="en-US" dirty="0">
                <a:sym typeface="Merriweather" panose="00000500000000000000"/>
              </a:rPr>
              <a:t> – </a:t>
            </a:r>
            <a:r>
              <a:rPr lang="en-IN" dirty="0"/>
              <a:t>Official Edutainer internship platform</a:t>
            </a:r>
            <a:endParaRPr lang="en-US" altLang="en-US" dirty="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a:p>
            <a:pPr indent="-180000" algn="just">
              <a:lnSpc>
                <a:spcPct val="150000"/>
              </a:lnSpc>
              <a:buFont typeface="Arial" panose="020B0604020202020204" pitchFamily="34" charset="0"/>
              <a:buChar char="•"/>
            </a:pPr>
            <a:r>
              <a:rPr lang="en-US" altLang="en-US" dirty="0">
                <a:sym typeface="Merriweather" panose="00000500000000000000"/>
                <a:hlinkClick r:id="rId5"/>
              </a:rPr>
              <a:t>https://www.internship.edutainer.in/login</a:t>
            </a:r>
            <a:r>
              <a:rPr lang="en-US" altLang="en-US" dirty="0">
                <a:sym typeface="Merriweather" panose="00000500000000000000"/>
              </a:rPr>
              <a:t> - </a:t>
            </a:r>
            <a:r>
              <a:rPr lang="en-IN" dirty="0"/>
              <a:t>Login page to access internship</a:t>
            </a:r>
            <a:endParaRPr lang="en-US" altLang="en-US" dirty="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a:p>
            <a:pPr indent="-180000" algn="just">
              <a:lnSpc>
                <a:spcPct val="150000"/>
              </a:lnSpc>
              <a:buFont typeface="Arial" panose="020B0604020202020204" pitchFamily="34" charset="0"/>
              <a:buChar char="•"/>
            </a:pPr>
            <a:r>
              <a:rPr lang="en-US" altLang="en-US" dirty="0">
                <a:sym typeface="Merriweather" panose="00000500000000000000"/>
                <a:hlinkClick r:id="rId6"/>
              </a:rPr>
              <a:t>https://www.internship.edutainer.in/student/student-dashboard</a:t>
            </a:r>
            <a:r>
              <a:rPr lang="en-US" altLang="en-US" dirty="0">
                <a:sym typeface="Merriweather" panose="00000500000000000000"/>
              </a:rPr>
              <a:t> - </a:t>
            </a:r>
            <a:r>
              <a:rPr lang="en-IN" dirty="0"/>
              <a:t>Student dashboard for internship progress</a:t>
            </a:r>
            <a:endParaRPr lang="en-US" altLang="en-US" dirty="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a:p>
            <a:pPr indent="-180000" algn="just">
              <a:lnSpc>
                <a:spcPct val="150000"/>
              </a:lnSpc>
              <a:buFont typeface="Arial" panose="020B0604020202020204" pitchFamily="34" charset="0"/>
              <a:buChar char="•"/>
            </a:pPr>
            <a:r>
              <a:rPr lang="en-US" altLang="en-US" dirty="0">
                <a:sym typeface="Merriweather" panose="00000500000000000000"/>
                <a:hlinkClick r:id="rId7"/>
              </a:rPr>
              <a:t>https://www.internship.edutainer.in/student/my-learning</a:t>
            </a:r>
            <a:r>
              <a:rPr lang="en-US" altLang="en-US" dirty="0">
                <a:sym typeface="Merriweather" panose="00000500000000000000"/>
              </a:rPr>
              <a:t> - </a:t>
            </a:r>
            <a:r>
              <a:rPr lang="en-IN" dirty="0"/>
              <a:t>Learning section with videos and quizzes</a:t>
            </a:r>
            <a:endParaRPr lang="en-US" altLang="en-US" dirty="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a:p>
            <a:pPr indent="-180000" algn="just">
              <a:lnSpc>
                <a:spcPct val="150000"/>
              </a:lnSpc>
              <a:buFont typeface="Arial" panose="020B0604020202020204" pitchFamily="34" charset="0"/>
              <a:buChar char="•"/>
            </a:pPr>
            <a:r>
              <a:rPr lang="en-US" altLang="en-US" dirty="0">
                <a:sym typeface="Merriweather" panose="00000500000000000000"/>
                <a:hlinkClick r:id="rId8"/>
              </a:rPr>
              <a:t>https://www.internship.edutainer.in/student/my-course/Full-Stack-Web-Development-Bootcamp</a:t>
            </a:r>
            <a:r>
              <a:rPr lang="en-US" altLang="en-US" dirty="0">
                <a:sym typeface="Merriweather" panose="00000500000000000000"/>
              </a:rPr>
              <a:t> - </a:t>
            </a:r>
            <a:r>
              <a:rPr lang="en-IN" dirty="0"/>
              <a:t>HTML, CSS, and JavaScript learning module</a:t>
            </a:r>
            <a:endParaRPr lang="en-US" altLang="en-US" dirty="0">
              <a:sym typeface="Merriweather" panose="00000500000000000000"/>
            </a:endParaRPr>
          </a:p>
          <a:p>
            <a:pPr indent="-180000" algn="just">
              <a:lnSpc>
                <a:spcPct val="150000"/>
              </a:lnSpc>
              <a:buFont typeface="Arial" panose="020B0604020202020204" pitchFamily="34" charset="0"/>
              <a:buChar char="•"/>
            </a:pPr>
            <a:endParaRPr lang="en-US" altLang="en-US" dirty="0">
              <a:sym typeface="Merriweather" panose="00000500000000000000"/>
            </a:endParaRPr>
          </a:p>
          <a:p>
            <a:pPr indent="-180000" algn="just">
              <a:lnSpc>
                <a:spcPct val="150000"/>
              </a:lnSpc>
              <a:buFont typeface="Arial" panose="020B0604020202020204" pitchFamily="34" charset="0"/>
              <a:buChar char="•"/>
            </a:pPr>
            <a:r>
              <a:rPr lang="en-US" altLang="en-US" dirty="0">
                <a:sym typeface="Merriweather" panose="00000500000000000000"/>
                <a:hlinkClick r:id="rId9"/>
              </a:rPr>
              <a:t>https://www.internship.edutainer.in/student/my-course/Python-Essentials-and-Libraries-for-Data-Science</a:t>
            </a:r>
            <a:r>
              <a:rPr lang="en-US" altLang="en-US" dirty="0">
                <a:sym typeface="Merriweather" panose="00000500000000000000"/>
              </a:rPr>
              <a:t> - </a:t>
            </a:r>
            <a:r>
              <a:rPr lang="en-IN" dirty="0"/>
              <a:t>Python course content</a:t>
            </a:r>
            <a:endParaRPr lang="en-US" altLang="en-US" dirty="0">
              <a:sym typeface="Merriweather" panose="00000500000000000000"/>
            </a:endParaRPr>
          </a:p>
          <a:p>
            <a:pPr algn="just">
              <a:lnSpc>
                <a:spcPct val="150000"/>
              </a:lnSpc>
            </a:pPr>
            <a:endParaRPr lang="en-US" altLang="en-US" dirty="0">
              <a:sym typeface="Merriweather" panose="00000500000000000000"/>
            </a:endParaRPr>
          </a:p>
        </p:txBody>
      </p:sp>
      <p:sp>
        <p:nvSpPr>
          <p:cNvPr id="140" name="Google Shape;140;p16">
            <a:extLst>
              <a:ext uri="{FF2B5EF4-FFF2-40B4-BE49-F238E27FC236}">
                <a16:creationId xmlns:a16="http://schemas.microsoft.com/office/drawing/2014/main" id="{109E2D09-80E4-340F-0FFE-8D8EDDCA3942}"/>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790223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57FC927B-2DD0-9580-B1BA-4B555470BFED}"/>
            </a:ext>
          </a:extLst>
        </p:cNvPr>
        <p:cNvGrpSpPr/>
        <p:nvPr/>
      </p:nvGrpSpPr>
      <p:grpSpPr>
        <a:xfrm>
          <a:off x="0" y="0"/>
          <a:ext cx="0" cy="0"/>
          <a:chOff x="0" y="0"/>
          <a:chExt cx="0" cy="0"/>
        </a:xfrm>
      </p:grpSpPr>
      <p:sp>
        <p:nvSpPr>
          <p:cNvPr id="131" name="Google Shape;131;p16">
            <a:extLst>
              <a:ext uri="{FF2B5EF4-FFF2-40B4-BE49-F238E27FC236}">
                <a16:creationId xmlns:a16="http://schemas.microsoft.com/office/drawing/2014/main" id="{50FAF664-CED6-6EED-B66C-06492C36493C}"/>
              </a:ext>
            </a:extLst>
          </p:cNvPr>
          <p:cNvSpPr txBox="1"/>
          <p:nvPr/>
        </p:nvSpPr>
        <p:spPr>
          <a:xfrm>
            <a:off x="67566" y="-13148"/>
            <a:ext cx="12020954" cy="914400"/>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733939"/>
              </a:buClr>
              <a:buSzPts val="4000"/>
              <a:buFont typeface="Times New Roman" panose="02020603050405020304"/>
              <a:buNone/>
            </a:pPr>
            <a:endParaRPr dirty="0"/>
          </a:p>
        </p:txBody>
      </p:sp>
      <p:cxnSp>
        <p:nvCxnSpPr>
          <p:cNvPr id="132" name="Google Shape;132;p16">
            <a:extLst>
              <a:ext uri="{FF2B5EF4-FFF2-40B4-BE49-F238E27FC236}">
                <a16:creationId xmlns:a16="http://schemas.microsoft.com/office/drawing/2014/main" id="{62DC7572-C428-49B5-8C4B-ADFCD6A50061}"/>
              </a:ext>
            </a:extLst>
          </p:cNvPr>
          <p:cNvCxnSpPr/>
          <p:nvPr/>
        </p:nvCxnSpPr>
        <p:spPr>
          <a:xfrm rot="10800000" flipH="1">
            <a:off x="39856" y="66364"/>
            <a:ext cx="12084578" cy="14064"/>
          </a:xfrm>
          <a:prstGeom prst="straightConnector1">
            <a:avLst/>
          </a:prstGeom>
          <a:noFill/>
          <a:ln w="76200" cap="flat" cmpd="sng">
            <a:solidFill>
              <a:schemeClr val="hlink"/>
            </a:solidFill>
            <a:prstDash val="solid"/>
            <a:round/>
            <a:headEnd type="none" w="med" len="med"/>
            <a:tailEnd type="none" w="med" len="med"/>
          </a:ln>
        </p:spPr>
      </p:cxnSp>
      <p:cxnSp>
        <p:nvCxnSpPr>
          <p:cNvPr id="133" name="Google Shape;133;p16">
            <a:extLst>
              <a:ext uri="{FF2B5EF4-FFF2-40B4-BE49-F238E27FC236}">
                <a16:creationId xmlns:a16="http://schemas.microsoft.com/office/drawing/2014/main" id="{AD1983FD-D044-20B3-6DB1-39DF6B45C067}"/>
              </a:ext>
            </a:extLst>
          </p:cNvPr>
          <p:cNvCxnSpPr/>
          <p:nvPr/>
        </p:nvCxnSpPr>
        <p:spPr>
          <a:xfrm rot="10800000" flipH="1">
            <a:off x="39856" y="904564"/>
            <a:ext cx="12048664" cy="14064"/>
          </a:xfrm>
          <a:prstGeom prst="straightConnector1">
            <a:avLst/>
          </a:prstGeom>
          <a:noFill/>
          <a:ln w="19050" cap="flat" cmpd="sng">
            <a:solidFill>
              <a:schemeClr val="hlink"/>
            </a:solidFill>
            <a:prstDash val="solid"/>
            <a:round/>
            <a:headEnd type="none" w="med" len="med"/>
            <a:tailEnd type="none" w="med" len="med"/>
          </a:ln>
        </p:spPr>
      </p:cxnSp>
      <p:cxnSp>
        <p:nvCxnSpPr>
          <p:cNvPr id="134" name="Google Shape;134;p16">
            <a:extLst>
              <a:ext uri="{FF2B5EF4-FFF2-40B4-BE49-F238E27FC236}">
                <a16:creationId xmlns:a16="http://schemas.microsoft.com/office/drawing/2014/main" id="{9989F38F-917E-40C3-D675-28D3540A2AD9}"/>
              </a:ext>
            </a:extLst>
          </p:cNvPr>
          <p:cNvCxnSpPr/>
          <p:nvPr/>
        </p:nvCxnSpPr>
        <p:spPr>
          <a:xfrm rot="10800000" flipH="1">
            <a:off x="80818" y="6375827"/>
            <a:ext cx="12020954" cy="22573"/>
          </a:xfrm>
          <a:prstGeom prst="straightConnector1">
            <a:avLst/>
          </a:prstGeom>
          <a:noFill/>
          <a:ln w="76200" cap="flat" cmpd="sng">
            <a:solidFill>
              <a:schemeClr val="hlink"/>
            </a:solidFill>
            <a:prstDash val="solid"/>
            <a:round/>
            <a:headEnd type="none" w="med" len="med"/>
            <a:tailEnd type="none" w="med" len="med"/>
          </a:ln>
        </p:spPr>
      </p:cxnSp>
      <p:pic>
        <p:nvPicPr>
          <p:cNvPr id="135" name="Google Shape;135;p16" descr="Teacher">
            <a:extLst>
              <a:ext uri="{FF2B5EF4-FFF2-40B4-BE49-F238E27FC236}">
                <a16:creationId xmlns:a16="http://schemas.microsoft.com/office/drawing/2014/main" id="{56D735CB-A573-DD49-67C0-A063DA6B187B}"/>
              </a:ext>
            </a:extLst>
          </p:cNvPr>
          <p:cNvPicPr preferRelativeResize="0"/>
          <p:nvPr/>
        </p:nvPicPr>
        <p:blipFill rotWithShape="1">
          <a:blip r:embed="rId3"/>
          <a:srcRect/>
          <a:stretch>
            <a:fillRect/>
          </a:stretch>
        </p:blipFill>
        <p:spPr>
          <a:xfrm>
            <a:off x="103480" y="80428"/>
            <a:ext cx="827584" cy="827584"/>
          </a:xfrm>
          <a:prstGeom prst="rect">
            <a:avLst/>
          </a:prstGeom>
          <a:noFill/>
          <a:ln>
            <a:noFill/>
          </a:ln>
        </p:spPr>
      </p:pic>
      <p:sp>
        <p:nvSpPr>
          <p:cNvPr id="136" name="Google Shape;136;p16">
            <a:extLst>
              <a:ext uri="{FF2B5EF4-FFF2-40B4-BE49-F238E27FC236}">
                <a16:creationId xmlns:a16="http://schemas.microsoft.com/office/drawing/2014/main" id="{4B670245-B0B8-01E6-C58A-B138098B94F3}"/>
              </a:ext>
            </a:extLst>
          </p:cNvPr>
          <p:cNvSpPr txBox="1">
            <a:spLocks noGrp="1"/>
          </p:cNvSpPr>
          <p:nvPr>
            <p:ph type="dt" idx="10"/>
          </p:nvPr>
        </p:nvSpPr>
        <p:spPr>
          <a:xfrm>
            <a:off x="838200" y="6435862"/>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600" b="1" dirty="0">
                <a:solidFill>
                  <a:srgbClr val="0070C0"/>
                </a:solidFill>
              </a:rPr>
              <a:t>Date: 15/04/2026</a:t>
            </a:r>
            <a:endParaRPr sz="1600" b="1" dirty="0">
              <a:solidFill>
                <a:srgbClr val="0070C0"/>
              </a:solidFill>
            </a:endParaRPr>
          </a:p>
        </p:txBody>
      </p:sp>
      <p:sp>
        <p:nvSpPr>
          <p:cNvPr id="137" name="Google Shape;137;p16">
            <a:extLst>
              <a:ext uri="{FF2B5EF4-FFF2-40B4-BE49-F238E27FC236}">
                <a16:creationId xmlns:a16="http://schemas.microsoft.com/office/drawing/2014/main" id="{0F5F149B-E1B2-2559-3AE9-E0016C9DF86F}"/>
              </a:ext>
            </a:extLst>
          </p:cNvPr>
          <p:cNvSpPr txBox="1">
            <a:spLocks noGrp="1"/>
          </p:cNvSpPr>
          <p:nvPr>
            <p:ph type="sldNum" idx="12"/>
          </p:nvPr>
        </p:nvSpPr>
        <p:spPr>
          <a:xfrm>
            <a:off x="8610600" y="643586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solidFill>
                  <a:srgbClr val="0070C0"/>
                </a:solidFill>
                <a:latin typeface="Times New Roman" panose="02020603050405020304" pitchFamily="18" charset="0"/>
                <a:cs typeface="Times New Roman" panose="02020603050405020304" pitchFamily="18" charset="0"/>
              </a:rPr>
              <a:t>24</a:t>
            </a:fld>
            <a:endParaRPr lang="en-US" sz="1600" b="1">
              <a:solidFill>
                <a:srgbClr val="0070C0"/>
              </a:solidFill>
              <a:latin typeface="Times New Roman" panose="02020603050405020304" pitchFamily="18" charset="0"/>
              <a:cs typeface="Times New Roman" panose="02020603050405020304" pitchFamily="18" charset="0"/>
            </a:endParaRPr>
          </a:p>
        </p:txBody>
      </p:sp>
      <p:sp>
        <p:nvSpPr>
          <p:cNvPr id="138" name="Google Shape;138;p16">
            <a:extLst>
              <a:ext uri="{FF2B5EF4-FFF2-40B4-BE49-F238E27FC236}">
                <a16:creationId xmlns:a16="http://schemas.microsoft.com/office/drawing/2014/main" id="{5134A7B3-7C2D-6366-BD79-339CF33BB90F}"/>
              </a:ext>
            </a:extLst>
          </p:cNvPr>
          <p:cNvSpPr txBox="1"/>
          <p:nvPr/>
        </p:nvSpPr>
        <p:spPr>
          <a:xfrm>
            <a:off x="80818" y="956090"/>
            <a:ext cx="11985040" cy="4525963"/>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400"/>
              <a:buFont typeface="Arial" panose="020B0604020202020204"/>
              <a:buNone/>
            </a:pPr>
            <a:endParaRPr sz="24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6">
            <a:extLst>
              <a:ext uri="{FF2B5EF4-FFF2-40B4-BE49-F238E27FC236}">
                <a16:creationId xmlns:a16="http://schemas.microsoft.com/office/drawing/2014/main" id="{984EF031-393C-738E-7E44-2F38200341DF}"/>
              </a:ext>
            </a:extLst>
          </p:cNvPr>
          <p:cNvSpPr txBox="1"/>
          <p:nvPr/>
        </p:nvSpPr>
        <p:spPr>
          <a:xfrm>
            <a:off x="67310" y="980763"/>
            <a:ext cx="11984990" cy="5357172"/>
          </a:xfrm>
          <a:prstGeom prst="rect">
            <a:avLst/>
          </a:prstGeom>
          <a:noFill/>
          <a:ln>
            <a:noFill/>
          </a:ln>
        </p:spPr>
        <p:txBody>
          <a:bodyPr spcFirstLastPara="1" wrap="square" lIns="91425" tIns="45700" rIns="91425" bIns="45700" anchor="t" anchorCtr="0">
            <a:noAutofit/>
          </a:bodyPr>
          <a:lstStyle/>
          <a:p>
            <a:pPr algn="ctr">
              <a:lnSpc>
                <a:spcPct val="150000"/>
              </a:lnSpc>
              <a:buClr>
                <a:srgbClr val="3B3835"/>
              </a:buClr>
              <a:buSzPts val="2800"/>
            </a:pPr>
            <a:endParaRPr lang="en-US" sz="2000" dirty="0">
              <a:effectLst/>
              <a:latin typeface="Times New Roman" panose="02020603050405020304" pitchFamily="18" charset="0"/>
              <a:ea typeface="Times New Roman" panose="02020603050405020304" pitchFamily="18" charset="0"/>
            </a:endParaRPr>
          </a:p>
          <a:p>
            <a:pPr marL="0" indent="0" algn="ctr">
              <a:lnSpc>
                <a:spcPct val="150000"/>
              </a:lnSpc>
              <a:buClr>
                <a:srgbClr val="3B3835"/>
              </a:buClr>
              <a:buSzPts val="2800"/>
              <a:buFont typeface="Arial" panose="020B0604020202020204" pitchFamily="34" charset="0"/>
              <a:buNone/>
            </a:pPr>
            <a:endParaRPr lang="en-US" sz="2000" b="0" i="0" u="none" strike="noStrike" cap="none" dirty="0">
              <a:solidFill>
                <a:srgbClr val="3B3835"/>
              </a:solidFill>
              <a:latin typeface="Times New Roman" panose="02020603050405020304"/>
              <a:ea typeface="Times New Roman" panose="02020603050405020304"/>
              <a:cs typeface="Times New Roman" panose="02020603050405020304"/>
              <a:sym typeface="Times New Roman" panose="02020603050405020304"/>
            </a:endParaRPr>
          </a:p>
          <a:p>
            <a:pPr marL="0" indent="0" algn="ctr">
              <a:lnSpc>
                <a:spcPct val="150000"/>
              </a:lnSpc>
              <a:buClr>
                <a:srgbClr val="3B3835"/>
              </a:buClr>
              <a:buSzPts val="2800"/>
              <a:buFont typeface="Arial" panose="020B0604020202020204" pitchFamily="34" charset="0"/>
              <a:buNone/>
            </a:pPr>
            <a:endParaRPr lang="en-US" sz="2000" dirty="0">
              <a:solidFill>
                <a:srgbClr val="3B3835"/>
              </a:solidFill>
              <a:latin typeface="Times New Roman" panose="02020603050405020304"/>
              <a:ea typeface="Times New Roman" panose="02020603050405020304"/>
              <a:cs typeface="Times New Roman" panose="02020603050405020304"/>
              <a:sym typeface="Times New Roman" panose="02020603050405020304"/>
            </a:endParaRPr>
          </a:p>
          <a:p>
            <a:pPr marL="0" indent="0" algn="ctr">
              <a:lnSpc>
                <a:spcPct val="150000"/>
              </a:lnSpc>
              <a:buClr>
                <a:srgbClr val="3B3835"/>
              </a:buClr>
              <a:buSzPts val="2800"/>
              <a:buFont typeface="Arial" panose="020B0604020202020204" pitchFamily="34" charset="0"/>
              <a:buNone/>
            </a:pPr>
            <a:endParaRPr lang="en-US" sz="2000" b="0" i="0" u="none" strike="noStrike" cap="none" dirty="0">
              <a:solidFill>
                <a:srgbClr val="3B3835"/>
              </a:solidFill>
              <a:latin typeface="Times New Roman" panose="02020603050405020304"/>
              <a:ea typeface="Times New Roman" panose="02020603050405020304"/>
              <a:cs typeface="Times New Roman" panose="02020603050405020304"/>
              <a:sym typeface="Times New Roman" panose="02020603050405020304"/>
            </a:endParaRPr>
          </a:p>
          <a:p>
            <a:pPr marL="0" indent="0" algn="ctr">
              <a:buClr>
                <a:srgbClr val="3B3835"/>
              </a:buClr>
              <a:buSzPts val="2800"/>
              <a:buFont typeface="Arial" panose="020B0604020202020204"/>
              <a:buNone/>
            </a:pPr>
            <a:r>
              <a:rPr lang="en-IN" sz="8000" dirty="0">
                <a:effectLst/>
                <a:latin typeface="Times New Roman" panose="02020603050405020304" pitchFamily="18" charset="0"/>
                <a:ea typeface="Times New Roman" panose="02020603050405020304" pitchFamily="18" charset="0"/>
              </a:rPr>
              <a:t>Thank You</a:t>
            </a:r>
          </a:p>
        </p:txBody>
      </p:sp>
      <p:sp>
        <p:nvSpPr>
          <p:cNvPr id="140" name="Google Shape;140;p16">
            <a:extLst>
              <a:ext uri="{FF2B5EF4-FFF2-40B4-BE49-F238E27FC236}">
                <a16:creationId xmlns:a16="http://schemas.microsoft.com/office/drawing/2014/main" id="{0B36193B-3324-4C2D-03F3-694C97A8B4F9}"/>
              </a:ext>
            </a:extLst>
          </p:cNvPr>
          <p:cNvSpPr txBox="1">
            <a:spLocks noGrp="1"/>
          </p:cNvSpPr>
          <p:nvPr>
            <p:ph type="ftr" idx="11"/>
          </p:nvPr>
        </p:nvSpPr>
        <p:spPr>
          <a:xfrm>
            <a:off x="2541069" y="6435862"/>
            <a:ext cx="8368882" cy="369707"/>
          </a:xfrm>
          <a:prstGeom prst="rect">
            <a:avLst/>
          </a:prstGeom>
          <a:noFill/>
          <a:ln>
            <a:noFill/>
          </a:ln>
        </p:spPr>
        <p:txBody>
          <a:bodyPr spcFirstLastPara="1" wrap="square" lIns="91425" tIns="45700" rIns="91425" bIns="45700" anchor="ctr" anchorCtr="0">
            <a:noAutofit/>
          </a:bodyPr>
          <a:lstStyle/>
          <a:p>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r>
              <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Web Development Intern(entry level)</a:t>
            </a:r>
            <a:endParaRPr lang="en-US" sz="14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lvl="0"/>
            <a:endParaRPr lang="en-US" sz="1600" i="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1751671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1895</TotalTime>
  <Words>1855</Words>
  <Application>Microsoft Macintosh PowerPoint</Application>
  <PresentationFormat>Widescreen</PresentationFormat>
  <Paragraphs>366</Paragraphs>
  <Slides>24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Merriweather</vt: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M</dc:creator>
  <cp:lastModifiedBy>apeksha gowda</cp:lastModifiedBy>
  <cp:revision>57</cp:revision>
  <dcterms:created xsi:type="dcterms:W3CDTF">2025-09-24T07:54:00Z</dcterms:created>
  <dcterms:modified xsi:type="dcterms:W3CDTF">2026-05-07T04:37:29Z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B151289C992D475B9BF0C713ED15C9C7_13</vt:lpwstr>
  </property>
  <property fmtid="{D5CDD505-2E9C-101B-9397-08002B2CF9AE}" pid="3" name="KSOProductBuildVer">
    <vt:lpwstr>1033-12.2.0.23196</vt:lpwstr>
  </property>
</Properties>
</file>